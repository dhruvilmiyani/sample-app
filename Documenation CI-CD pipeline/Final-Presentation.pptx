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64" r:id="rId1"/>
  </p:sldMasterIdLst>
  <p:notesMasterIdLst>
    <p:notesMasterId r:id="rId62"/>
  </p:notesMasterIdLst>
  <p:handoutMasterIdLst>
    <p:handoutMasterId r:id="rId63"/>
  </p:handoutMasterIdLst>
  <p:sldIdLst>
    <p:sldId id="256" r:id="rId2"/>
    <p:sldId id="265" r:id="rId3"/>
    <p:sldId id="270" r:id="rId4"/>
    <p:sldId id="271" r:id="rId5"/>
    <p:sldId id="303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04" r:id="rId36"/>
    <p:sldId id="272" r:id="rId37"/>
    <p:sldId id="275" r:id="rId38"/>
    <p:sldId id="276" r:id="rId39"/>
    <p:sldId id="305" r:id="rId40"/>
    <p:sldId id="277" r:id="rId41"/>
    <p:sldId id="278" r:id="rId42"/>
    <p:sldId id="279" r:id="rId43"/>
    <p:sldId id="280" r:id="rId44"/>
    <p:sldId id="281" r:id="rId45"/>
    <p:sldId id="282" r:id="rId46"/>
    <p:sldId id="300" r:id="rId47"/>
    <p:sldId id="283" r:id="rId48"/>
    <p:sldId id="307" r:id="rId49"/>
    <p:sldId id="285" r:id="rId50"/>
    <p:sldId id="286" r:id="rId51"/>
    <p:sldId id="288" r:id="rId52"/>
    <p:sldId id="290" r:id="rId53"/>
    <p:sldId id="289" r:id="rId54"/>
    <p:sldId id="291" r:id="rId55"/>
    <p:sldId id="292" r:id="rId56"/>
    <p:sldId id="293" r:id="rId57"/>
    <p:sldId id="302" r:id="rId58"/>
    <p:sldId id="294" r:id="rId59"/>
    <p:sldId id="274" r:id="rId60"/>
    <p:sldId id="269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20" autoAdjust="0"/>
  </p:normalViewPr>
  <p:slideViewPr>
    <p:cSldViewPr>
      <p:cViewPr varScale="1">
        <p:scale>
          <a:sx n="74" d="100"/>
          <a:sy n="74" d="100"/>
        </p:scale>
        <p:origin x="129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8" d="100"/>
        <a:sy n="7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627E6F-B948-47BF-81A9-463C0B3DFCFF}" type="doc">
      <dgm:prSet loTypeId="urn:microsoft.com/office/officeart/2005/8/layout/chevronAccent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49BC2-542E-4FDC-AA24-D6C45BDF4251}" type="pres">
      <dgm:prSet presAssocID="{C0627E6F-B948-47BF-81A9-463C0B3DFCF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C3FFE7B2-1F37-4F38-84CF-98484D4024FF}" type="presOf" srcId="{C0627E6F-B948-47BF-81A9-463C0B3DFCFF}" destId="{E5349BC2-542E-4FDC-AA24-D6C45BDF4251}" srcOrd="0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D7C33E71-F64F-EBEF-5BA0-591C57F10F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61691AB-86FB-9040-3B65-AD9EA3F421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F0DE82D-B3F5-4BD8-B930-54684887805F}" type="datetimeFigureOut">
              <a:rPr lang="en-IN"/>
              <a:pPr>
                <a:defRPr/>
              </a:pPr>
              <a:t>14-06-2024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1CADFE-B9AA-FAE8-239F-0385D55A75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5117AFC-C50A-1815-9995-0DC7D9C5E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33ED0C2-CD47-4A3A-AB7B-2E460EC399B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C540362B-E889-5598-58BD-7A05CA76A4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4416903-6BB7-3171-C138-1B71284709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F88935E-F90A-480E-80D5-D945BE904716}" type="datetimeFigureOut">
              <a:rPr lang="en-US"/>
              <a:pPr>
                <a:defRPr/>
              </a:pPr>
              <a:t>6/14/2024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EE880DFE-21DB-6146-AE04-CBA126922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2278B029-28BF-6D32-B12F-3235C918F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397E9B8-1117-BCE2-84DF-BDC47D0ABB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BC2796B-9B66-C045-97C5-85DE0EED4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454E166-5D57-4A56-A072-1ECCDE25B6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26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xmlns="" id="{727765CF-2ADE-7D36-6441-C1A6681141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xmlns="" id="{D238357C-3B8F-40C2-8D7C-483D9E7B11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xmlns="" id="{A2814578-3B36-1CFC-48EC-8F702D717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9CDB007-5505-446C-B177-16886C077946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82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29135E-31F1-4448-9819-9D50B897F48F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fld id="{28E00D1A-1AF5-49C7-86FC-0A8AAB2602B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53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58339F-3000-4AA1-B38C-2E056973012C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24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820D3A-307D-4A3B-AEA0-3063D2DA9AE0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D35D72AA-6442-475D-B18A-98F673CB58E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54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3B5B69-CB67-4561-A189-ABC969B49F39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5973CFFA-F01E-4012-BE79-CA653BE05D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89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F42F52-44F9-415F-B49C-E87C01DE9595}" type="datetime1">
              <a:rPr lang="en-US" smtClean="0"/>
              <a:t>6/14/2024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0AA12D51-CEE8-4F15-9008-E7FCBE9464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20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D6DBC-5861-4FD4-B8B2-9DAADA574EDC}" type="datetime1">
              <a:rPr lang="en-US" smtClean="0"/>
              <a:t>6/14/2024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EA2D5-0E94-4851-9744-B193D45147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4D3D33-6A2A-4FE9-808D-95B40CBA9A17}" type="datetime1">
              <a:rPr lang="en-US" smtClean="0"/>
              <a:t>6/14/2024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A2357D-B969-4E62-B8E4-39CA29264B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492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E63D39-F362-430A-A2E3-4D11B6A15D91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F899D1-3B63-4856-89D5-AD78B43DA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65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B1782C-F417-47F1-B94A-7E4BF5F0BFA5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36FBBAF0-2CE1-4D6F-A7A2-09289131687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15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82AABB-BD3C-4F9E-9DF3-BE549A432ABE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2197A705-04F4-4725-9837-D720686A5C7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10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E882D8-CB71-4505-9E13-37A4B0FB93FE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464AE1AF-D979-4B88-A686-C67EB931CD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6564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F428F-CBD1-4698-A067-7BA3F7D9250F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1559365D-EF52-486C-84C1-6407EF5CC2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423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F51948-06A7-494A-B128-EABF7F55C0E5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1F31B62B-4CD7-4380-9D99-3971E605F50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3880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526CCC-3415-4425-ADFF-AD96623D6FB3}" type="datetime1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2F481728-296C-48AB-BF4A-48B04FA3C69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437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108127-3DBF-4FF5-8ECC-B9F64387F217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E30488-0F49-4F53-B959-C4CDE44157D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844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50F732-838C-4D3E-A16E-1DE51B85D111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716A1-45A7-48B8-B8EC-F781638FE4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2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5AFE8C-EBF3-417C-A19F-AAC7AAD76888}" type="datetime1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Project Title, CGPIT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61A4EC8D-5BC0-4838-B6E9-00DD3BB79AC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32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  <p:sldLayoutId id="2147484176" r:id="rId12"/>
    <p:sldLayoutId id="2147484177" r:id="rId13"/>
    <p:sldLayoutId id="2147484178" r:id="rId14"/>
    <p:sldLayoutId id="2147484179" r:id="rId15"/>
    <p:sldLayoutId id="214748418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contactus@toshalinfotech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ordpress.org/latest.tar.gz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AbhishekVeeramalla" TargetMode="External"/><Relationship Id="rId2" Type="http://schemas.openxmlformats.org/officeDocument/2006/relationships/hyperlink" Target="https://docs.aws.amazon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GouravSharma" TargetMode="External"/><Relationship Id="rId4" Type="http://schemas.openxmlformats.org/officeDocument/2006/relationships/hyperlink" Target="https://www.youtube.com/@TechnicalGuftgu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A61988BD-7101-C14C-A46A-EA00402A1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897" y="1861919"/>
            <a:ext cx="7467600" cy="1600200"/>
          </a:xfrm>
        </p:spPr>
        <p:txBody>
          <a:bodyPr/>
          <a:lstStyle/>
          <a:p>
            <a:pPr algn="ctr" eaLnBrk="1" hangingPunct="1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Industrial Training Presentation</a:t>
            </a:r>
            <a:endParaRPr lang="en-US" altLang="en-US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3" name="Subtitle 2">
            <a:extLst>
              <a:ext uri="{FF2B5EF4-FFF2-40B4-BE49-F238E27FC236}">
                <a16:creationId xmlns:a16="http://schemas.microsoft.com/office/drawing/2014/main" xmlns="" id="{6DCA9C0D-122A-53A0-B21A-083FD0225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701" y="4191000"/>
            <a:ext cx="7467600" cy="2133600"/>
          </a:xfrm>
        </p:spPr>
        <p:txBody>
          <a:bodyPr>
            <a:normAutofit fontScale="92500" lnSpcReduction="20000"/>
          </a:bodyPr>
          <a:lstStyle/>
          <a:p>
            <a:pPr marL="26988"/>
            <a:r>
              <a:rPr lang="en-US" altLang="en-US" sz="2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By:			                              Guided By:                                               </a:t>
            </a:r>
          </a:p>
          <a:p>
            <a:pPr marL="26988"/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Abhi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Bhuva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(202003103510192)              Dr. </a:t>
            </a: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Anshuman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Kalla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6988"/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Krishna Kapadia (202003103510205)              Professor (CE),</a:t>
            </a:r>
          </a:p>
          <a:p>
            <a:pPr marL="26988"/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Dhruvil Miyani   (202003103510221)              CGPIT.</a:t>
            </a:r>
          </a:p>
          <a:p>
            <a:pPr marL="26988"/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(8</a:t>
            </a:r>
            <a:r>
              <a:rPr lang="en-US" altLang="en-US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Semester) (CE)                                   </a:t>
            </a:r>
          </a:p>
          <a:p>
            <a:pPr marL="26988"/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CGPIT. </a:t>
            </a:r>
            <a:r>
              <a:rPr lang="en-US" altLang="en-US" sz="1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			                                                                              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4" name="AutoShape 3" descr="Image result for cgpit logo">
            <a:extLst>
              <a:ext uri="{FF2B5EF4-FFF2-40B4-BE49-F238E27FC236}">
                <a16:creationId xmlns:a16="http://schemas.microsoft.com/office/drawing/2014/main" xmlns="" id="{E10F861E-BBF1-0059-4F6E-2018C1DD14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547688"/>
            <a:ext cx="1152525" cy="115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Gill Sans MT" panose="020B0502020104020203" pitchFamily="34" charset="0"/>
            </a:endParaRPr>
          </a:p>
        </p:txBody>
      </p:sp>
      <p:sp>
        <p:nvSpPr>
          <p:cNvPr id="20485" name="AutoShape 5" descr="Image result for cgpit logo">
            <a:extLst>
              <a:ext uri="{FF2B5EF4-FFF2-40B4-BE49-F238E27FC236}">
                <a16:creationId xmlns:a16="http://schemas.microsoft.com/office/drawing/2014/main" xmlns="" id="{383DD8AE-0872-9FC7-1280-E34E71F0DE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547688"/>
            <a:ext cx="1152525" cy="115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Gill Sans MT" panose="020B0502020104020203" pitchFamily="34" charset="0"/>
            </a:endParaRPr>
          </a:p>
        </p:txBody>
      </p:sp>
      <p:pic>
        <p:nvPicPr>
          <p:cNvPr id="20486" name="Picture 11" descr="UTU">
            <a:extLst>
              <a:ext uri="{FF2B5EF4-FFF2-40B4-BE49-F238E27FC236}">
                <a16:creationId xmlns:a16="http://schemas.microsoft.com/office/drawing/2014/main" xmlns="" id="{6AC249DF-DFE3-6D63-B663-BC4F3FD23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"/>
            <a:ext cx="1828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AutoShape 13" descr="Image result for cgpit logo">
            <a:extLst>
              <a:ext uri="{FF2B5EF4-FFF2-40B4-BE49-F238E27FC236}">
                <a16:creationId xmlns:a16="http://schemas.microsoft.com/office/drawing/2014/main" xmlns="" id="{13E42685-E304-1F2A-A544-4FAE2CA54D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693738"/>
            <a:ext cx="2476500" cy="14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Gill Sans MT" panose="020B0502020104020203" pitchFamily="34" charset="0"/>
            </a:endParaRPr>
          </a:p>
        </p:txBody>
      </p:sp>
      <p:sp>
        <p:nvSpPr>
          <p:cNvPr id="20488" name="AutoShape 15" descr="Image result for cgpit logo">
            <a:extLst>
              <a:ext uri="{FF2B5EF4-FFF2-40B4-BE49-F238E27FC236}">
                <a16:creationId xmlns:a16="http://schemas.microsoft.com/office/drawing/2014/main" xmlns="" id="{56D0D16B-5FDE-6E5B-E27E-E1FE8829B4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693738"/>
            <a:ext cx="2476500" cy="14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Gill Sans MT" panose="020B0502020104020203" pitchFamily="34" charset="0"/>
            </a:endParaRPr>
          </a:p>
        </p:txBody>
      </p:sp>
      <p:pic>
        <p:nvPicPr>
          <p:cNvPr id="20489" name="Picture 17" descr="Image result for cgpit logo">
            <a:extLst>
              <a:ext uri="{FF2B5EF4-FFF2-40B4-BE49-F238E27FC236}">
                <a16:creationId xmlns:a16="http://schemas.microsoft.com/office/drawing/2014/main" xmlns="" id="{CEC1D787-B8E0-50E2-DEE5-E56A64BF9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0"/>
            <a:ext cx="24765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22363A-F2B8-FB62-9097-9734023F07B3}"/>
              </a:ext>
            </a:extLst>
          </p:cNvPr>
          <p:cNvSpPr txBox="1"/>
          <p:nvPr/>
        </p:nvSpPr>
        <p:spPr>
          <a:xfrm>
            <a:off x="715795" y="44958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xmlns="" id="{00272FB4-C50D-4D7A-3ACA-E9FEACA75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89" y="617317"/>
            <a:ext cx="7715250" cy="7060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xmlns="" id="{EAD07B5A-5764-C437-9272-982BACA0E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27545"/>
            <a:ext cx="7715250" cy="4764088"/>
          </a:xfrm>
        </p:spPr>
        <p:txBody>
          <a:bodyPr rtlCol="0">
            <a:normAutofit/>
          </a:bodyPr>
          <a:lstStyle/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Company Profile </a:t>
            </a:r>
            <a:endParaRPr lang="en-US" sz="24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Timeline Chart 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(week wise)</a:t>
            </a:r>
          </a:p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Work </a:t>
            </a:r>
            <a:endParaRPr lang="en-US" sz="24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Technologies/Platform </a:t>
            </a:r>
            <a:endParaRPr lang="en-US" sz="24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Screenshot of work during training </a:t>
            </a:r>
          </a:p>
          <a:p>
            <a:pPr marL="365125" indent="-282575" algn="just" eaLnBrk="1" hangingPunct="1">
              <a:buFont typeface="Wingdings 2" panose="05020102010507070707" pitchFamily="18" charset="2"/>
              <a:buChar char=""/>
              <a:defRPr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xmlns="" id="{30DDF8F9-62E4-09AC-1D45-657DC417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2</a:t>
            </a:r>
            <a:r>
              <a:rPr lang="en-US" alt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C3DEC2-5E63-0D02-3D2B-D8D5A2D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385" y="605980"/>
            <a:ext cx="6683765" cy="72872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Company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DAA088-30B3-096C-BF0A-6973C0AFB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76400"/>
            <a:ext cx="6686550" cy="4495800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Toshal Infotech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 </a:t>
            </a: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203</a:t>
            </a:r>
            <a:r>
              <a:rPr lang="en-I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5thFloor, SNS Interio, beside CNG Station, Bhatar, Surat, Gujarat 395017.</a:t>
            </a:r>
          </a:p>
          <a:p>
            <a:r>
              <a:rPr lang="en-I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Services: </a:t>
            </a:r>
            <a:r>
              <a:rPr lang="en-I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Mobile App Development, Website Development, Vue.js Full Stack Development, Testing and QA, </a:t>
            </a:r>
            <a:r>
              <a:rPr lang="en-IN" alt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Laravel</a:t>
            </a:r>
            <a:r>
              <a:rPr lang="en-I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Development, Software Project Development, Cross App Development, DotNetNuke. </a:t>
            </a:r>
          </a:p>
          <a:p>
            <a:r>
              <a:rPr lang="en-I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 of employees: </a:t>
            </a:r>
            <a:r>
              <a:rPr lang="en-I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50-100</a:t>
            </a:r>
          </a:p>
          <a:p>
            <a:r>
              <a:rPr lang="en-I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Starting Year: </a:t>
            </a:r>
            <a:r>
              <a:rPr lang="en-I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2008</a:t>
            </a:r>
          </a:p>
          <a:p>
            <a:r>
              <a:rPr lang="en-I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Contact: </a:t>
            </a:r>
            <a:r>
              <a:rPr lang="en-IN" sz="2000" b="0" i="0" u="none" strike="noStrike" dirty="0">
                <a:solidFill>
                  <a:srgbClr val="10E98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contactus@toshalinfotech.com</a:t>
            </a:r>
            <a:endParaRPr lang="en-I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B1EA999-62A6-4ECC-393B-093F30BD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666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89D448-3B1C-DEA6-31F6-1BDDE8876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093" y="661718"/>
            <a:ext cx="6589199" cy="63126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Chart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7F696194-0703-8C88-B29B-D9032B570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504778"/>
              </p:ext>
            </p:extLst>
          </p:nvPr>
        </p:nvGraphicFramePr>
        <p:xfrm>
          <a:off x="762001" y="1600200"/>
          <a:ext cx="8077200" cy="453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628F602-F41C-F270-84F3-4B3BA372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xmlns="" id="{401520AB-5C35-66D5-FB41-85005257BBDE}"/>
              </a:ext>
            </a:extLst>
          </p:cNvPr>
          <p:cNvSpPr/>
          <p:nvPr/>
        </p:nvSpPr>
        <p:spPr>
          <a:xfrm>
            <a:off x="1155185" y="3649146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86738F78-78C6-6AC6-CAEF-C21D9F20CC78}"/>
              </a:ext>
            </a:extLst>
          </p:cNvPr>
          <p:cNvCxnSpPr>
            <a:cxnSpLocks/>
          </p:cNvCxnSpPr>
          <p:nvPr/>
        </p:nvCxnSpPr>
        <p:spPr>
          <a:xfrm flipV="1">
            <a:off x="1676400" y="2625803"/>
            <a:ext cx="26875" cy="976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705C401-B8D0-65DF-BC0C-699AEC6C9133}"/>
              </a:ext>
            </a:extLst>
          </p:cNvPr>
          <p:cNvSpPr txBox="1"/>
          <p:nvPr/>
        </p:nvSpPr>
        <p:spPr>
          <a:xfrm>
            <a:off x="1131066" y="1651762"/>
            <a:ext cx="13019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Cloud </a:t>
            </a:r>
          </a:p>
          <a:p>
            <a:pPr algn="ctr"/>
            <a:r>
              <a:rPr lang="en-IN" sz="1400" dirty="0"/>
              <a:t>computing , </a:t>
            </a:r>
          </a:p>
          <a:p>
            <a:pPr algn="ctr"/>
            <a:r>
              <a:rPr lang="en-IN" sz="1400" dirty="0"/>
              <a:t>use of cloud </a:t>
            </a:r>
          </a:p>
          <a:p>
            <a:pPr algn="ctr"/>
            <a:r>
              <a:rPr lang="en-IN" sz="1400" dirty="0"/>
              <a:t>computing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42965B39-B8FF-C614-078D-1AD83F3A4B58}"/>
              </a:ext>
            </a:extLst>
          </p:cNvPr>
          <p:cNvCxnSpPr>
            <a:cxnSpLocks/>
          </p:cNvCxnSpPr>
          <p:nvPr/>
        </p:nvCxnSpPr>
        <p:spPr>
          <a:xfrm flipV="1">
            <a:off x="2667000" y="4046056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0F7344A-5444-96D0-7090-1FCBAD18AD70}"/>
              </a:ext>
            </a:extLst>
          </p:cNvPr>
          <p:cNvSpPr txBox="1"/>
          <p:nvPr/>
        </p:nvSpPr>
        <p:spPr>
          <a:xfrm>
            <a:off x="2004784" y="5068010"/>
            <a:ext cx="13949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AWS services:</a:t>
            </a:r>
          </a:p>
          <a:p>
            <a:pPr algn="ctr"/>
            <a:r>
              <a:rPr lang="en-IN" sz="1400" dirty="0"/>
              <a:t>EC2, S3 , RDS, </a:t>
            </a:r>
          </a:p>
          <a:p>
            <a:pPr algn="ctr"/>
            <a:r>
              <a:rPr lang="en-IN" sz="1400" dirty="0"/>
              <a:t>Route53,</a:t>
            </a:r>
          </a:p>
          <a:p>
            <a:pPr algn="ctr"/>
            <a:r>
              <a:rPr lang="en-IN" sz="1400" dirty="0"/>
              <a:t> Lambda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12CFDC59-2D02-C3D3-E6EC-5C97D82635B2}"/>
              </a:ext>
            </a:extLst>
          </p:cNvPr>
          <p:cNvCxnSpPr>
            <a:cxnSpLocks/>
          </p:cNvCxnSpPr>
          <p:nvPr/>
        </p:nvCxnSpPr>
        <p:spPr>
          <a:xfrm flipV="1">
            <a:off x="3677142" y="2631705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D258067-6E38-9D77-CD9E-1E7605195059}"/>
              </a:ext>
            </a:extLst>
          </p:cNvPr>
          <p:cNvSpPr txBox="1"/>
          <p:nvPr/>
        </p:nvSpPr>
        <p:spPr>
          <a:xfrm>
            <a:off x="2900529" y="1670306"/>
            <a:ext cx="18036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Networking basics,</a:t>
            </a:r>
          </a:p>
          <a:p>
            <a:pPr algn="ctr"/>
            <a:r>
              <a:rPr lang="en-IN" sz="1400" dirty="0"/>
              <a:t>IP Address,</a:t>
            </a:r>
          </a:p>
          <a:p>
            <a:pPr algn="ctr"/>
            <a:r>
              <a:rPr lang="en-IN" sz="1400" dirty="0"/>
              <a:t>Subnet mask ,</a:t>
            </a:r>
          </a:p>
          <a:p>
            <a:pPr algn="ctr"/>
            <a:r>
              <a:rPr lang="en-IN" sz="1400" dirty="0"/>
              <a:t> route table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1AD82B3-CEA4-2F44-D9E1-57AD1B25716B}"/>
              </a:ext>
            </a:extLst>
          </p:cNvPr>
          <p:cNvCxnSpPr>
            <a:cxnSpLocks/>
          </p:cNvCxnSpPr>
          <p:nvPr/>
        </p:nvCxnSpPr>
        <p:spPr>
          <a:xfrm flipV="1">
            <a:off x="4650693" y="4096604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C6E712C-C2DD-3169-76B7-DEECF531F488}"/>
              </a:ext>
            </a:extLst>
          </p:cNvPr>
          <p:cNvSpPr txBox="1"/>
          <p:nvPr/>
        </p:nvSpPr>
        <p:spPr>
          <a:xfrm>
            <a:off x="3777079" y="5118558"/>
            <a:ext cx="19672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EC2 instance</a:t>
            </a:r>
          </a:p>
          <a:p>
            <a:pPr algn="ctr"/>
            <a:r>
              <a:rPr lang="en-IN" sz="1400" dirty="0"/>
              <a:t>using private IP, </a:t>
            </a:r>
          </a:p>
          <a:p>
            <a:pPr algn="ctr"/>
            <a:r>
              <a:rPr lang="en-IN" sz="1400" dirty="0"/>
              <a:t>virtual cloud tutorials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5DFE2150-E872-E70A-D7F7-401DC75D50D6}"/>
              </a:ext>
            </a:extLst>
          </p:cNvPr>
          <p:cNvCxnSpPr>
            <a:cxnSpLocks/>
          </p:cNvCxnSpPr>
          <p:nvPr/>
        </p:nvCxnSpPr>
        <p:spPr>
          <a:xfrm flipV="1">
            <a:off x="5630945" y="2603199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A0BE451-43A0-170A-A259-EF2204F01BEA}"/>
              </a:ext>
            </a:extLst>
          </p:cNvPr>
          <p:cNvSpPr txBox="1"/>
          <p:nvPr/>
        </p:nvSpPr>
        <p:spPr>
          <a:xfrm>
            <a:off x="4714904" y="1670305"/>
            <a:ext cx="18517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S3 bucket tutorials, </a:t>
            </a:r>
          </a:p>
          <a:p>
            <a:pPr algn="ctr"/>
            <a:r>
              <a:rPr lang="en-IN" sz="1400" dirty="0"/>
              <a:t>hosting static </a:t>
            </a:r>
          </a:p>
          <a:p>
            <a:pPr algn="ctr"/>
            <a:r>
              <a:rPr lang="en-IN" sz="1400" dirty="0"/>
              <a:t>site in s3 ,Bucket</a:t>
            </a:r>
          </a:p>
          <a:p>
            <a:pPr algn="ctr"/>
            <a:r>
              <a:rPr lang="en-IN" sz="1400" dirty="0"/>
              <a:t> versioning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xmlns="" id="{49286CFB-15DB-9A69-A4D4-A1B6047204A9}"/>
              </a:ext>
            </a:extLst>
          </p:cNvPr>
          <p:cNvSpPr/>
          <p:nvPr/>
        </p:nvSpPr>
        <p:spPr>
          <a:xfrm>
            <a:off x="2145785" y="3646367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2-3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xmlns="" id="{84F629FF-4BC7-0303-121E-583A0EC2871D}"/>
              </a:ext>
            </a:extLst>
          </p:cNvPr>
          <p:cNvSpPr/>
          <p:nvPr/>
        </p:nvSpPr>
        <p:spPr>
          <a:xfrm>
            <a:off x="3111735" y="3653659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4-5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xmlns="" id="{18DA7B4E-C1F5-2550-4541-B1F5F7BC898A}"/>
              </a:ext>
            </a:extLst>
          </p:cNvPr>
          <p:cNvSpPr/>
          <p:nvPr/>
        </p:nvSpPr>
        <p:spPr>
          <a:xfrm>
            <a:off x="4085286" y="3653659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6-7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xmlns="" id="{F0604D1A-8466-C880-304C-644A062C01C3}"/>
              </a:ext>
            </a:extLst>
          </p:cNvPr>
          <p:cNvSpPr/>
          <p:nvPr/>
        </p:nvSpPr>
        <p:spPr>
          <a:xfrm>
            <a:off x="5072866" y="3652221"/>
            <a:ext cx="1116159" cy="472142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8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xmlns="" id="{8EC6946C-E404-FDC0-DA1C-A2201EA7AEB9}"/>
              </a:ext>
            </a:extLst>
          </p:cNvPr>
          <p:cNvSpPr/>
          <p:nvPr/>
        </p:nvSpPr>
        <p:spPr>
          <a:xfrm>
            <a:off x="6024786" y="3639075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9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xmlns="" id="{157B1C8A-BABA-8163-9A1E-DE103E153A8D}"/>
              </a:ext>
            </a:extLst>
          </p:cNvPr>
          <p:cNvSpPr/>
          <p:nvPr/>
        </p:nvSpPr>
        <p:spPr>
          <a:xfrm>
            <a:off x="7009996" y="3639075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10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DBB83D8D-5AAC-8F25-C593-2A9B26478C7D}"/>
              </a:ext>
            </a:extLst>
          </p:cNvPr>
          <p:cNvCxnSpPr>
            <a:cxnSpLocks/>
          </p:cNvCxnSpPr>
          <p:nvPr/>
        </p:nvCxnSpPr>
        <p:spPr>
          <a:xfrm flipV="1">
            <a:off x="6566693" y="4126623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44E4F50E-99F5-77C0-DE45-CF969213C8B5}"/>
              </a:ext>
            </a:extLst>
          </p:cNvPr>
          <p:cNvCxnSpPr>
            <a:cxnSpLocks/>
          </p:cNvCxnSpPr>
          <p:nvPr/>
        </p:nvCxnSpPr>
        <p:spPr>
          <a:xfrm flipV="1">
            <a:off x="7543800" y="2580595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0DD4CE79-8A5E-560D-C882-14BBDDB6BBDC}"/>
              </a:ext>
            </a:extLst>
          </p:cNvPr>
          <p:cNvSpPr txBox="1"/>
          <p:nvPr/>
        </p:nvSpPr>
        <p:spPr>
          <a:xfrm>
            <a:off x="5649606" y="5140267"/>
            <a:ext cx="17299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RDS backup in S3 </a:t>
            </a:r>
          </a:p>
          <a:p>
            <a:pPr algn="ctr"/>
            <a:r>
              <a:rPr lang="en-IN" sz="1400" dirty="0"/>
              <a:t>bucket using</a:t>
            </a:r>
          </a:p>
          <a:p>
            <a:pPr algn="ctr"/>
            <a:r>
              <a:rPr lang="en-IN" sz="1400" dirty="0"/>
              <a:t> local machine,</a:t>
            </a:r>
          </a:p>
          <a:p>
            <a:pPr algn="ctr"/>
            <a:r>
              <a:rPr lang="en-IN" sz="1400" dirty="0"/>
              <a:t>RDS tutorials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DC890D38-5A5E-8A56-DF0D-FFC4E81A6C25}"/>
              </a:ext>
            </a:extLst>
          </p:cNvPr>
          <p:cNvSpPr txBox="1"/>
          <p:nvPr/>
        </p:nvSpPr>
        <p:spPr>
          <a:xfrm>
            <a:off x="6395688" y="1608225"/>
            <a:ext cx="23054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Lambda function</a:t>
            </a:r>
          </a:p>
          <a:p>
            <a:pPr algn="ctr"/>
            <a:r>
              <a:rPr lang="en-IN" sz="1400" dirty="0"/>
              <a:t> tutorials, Integrating </a:t>
            </a:r>
          </a:p>
          <a:p>
            <a:pPr algn="ctr"/>
            <a:r>
              <a:rPr lang="en-IN" sz="1400" dirty="0"/>
              <a:t>lambda function with </a:t>
            </a:r>
          </a:p>
          <a:p>
            <a:pPr algn="ctr"/>
            <a:r>
              <a:rPr lang="en-IN" sz="1400" dirty="0"/>
              <a:t>S3 bucket &amp; Dynamo DB</a:t>
            </a:r>
          </a:p>
        </p:txBody>
      </p:sp>
    </p:spTree>
    <p:extLst>
      <p:ext uri="{BB962C8B-B14F-4D97-AF65-F5344CB8AC3E}">
        <p14:creationId xmlns:p14="http://schemas.microsoft.com/office/powerpoint/2010/main" val="52698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B2F8C8-D85B-DCDD-027D-FD80A4E7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125" y="695605"/>
            <a:ext cx="6589199" cy="560239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chart</a:t>
            </a:r>
          </a:p>
        </p:txBody>
      </p:sp>
      <p:sp>
        <p:nvSpPr>
          <p:cNvPr id="81" name="Content Placeholder 80">
            <a:extLst>
              <a:ext uri="{FF2B5EF4-FFF2-40B4-BE49-F238E27FC236}">
                <a16:creationId xmlns:a16="http://schemas.microsoft.com/office/drawing/2014/main" xmlns="" id="{E7F06BF6-1BFE-36D3-A61C-1F3D7CCF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661" y="3675255"/>
            <a:ext cx="1130811" cy="472142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400" dirty="0"/>
              <a:t>Week  17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D79B409-6C2D-2D5F-A20F-65E952FC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xmlns="" id="{C2AA441E-A235-6CF9-6A15-C706D35AEF90}"/>
              </a:ext>
            </a:extLst>
          </p:cNvPr>
          <p:cNvSpPr/>
          <p:nvPr/>
        </p:nvSpPr>
        <p:spPr>
          <a:xfrm>
            <a:off x="1099316" y="3680910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9D46182D-C1A7-E415-1F4C-BE8934EC9A27}"/>
              </a:ext>
            </a:extLst>
          </p:cNvPr>
          <p:cNvCxnSpPr>
            <a:cxnSpLocks/>
          </p:cNvCxnSpPr>
          <p:nvPr/>
        </p:nvCxnSpPr>
        <p:spPr>
          <a:xfrm flipH="1" flipV="1">
            <a:off x="1647406" y="2657567"/>
            <a:ext cx="15339" cy="976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F0372B3C-401A-EDE2-2448-1AA72C419E7F}"/>
              </a:ext>
            </a:extLst>
          </p:cNvPr>
          <p:cNvCxnSpPr>
            <a:cxnSpLocks/>
          </p:cNvCxnSpPr>
          <p:nvPr/>
        </p:nvCxnSpPr>
        <p:spPr>
          <a:xfrm flipV="1">
            <a:off x="2611131" y="4077820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xmlns="" id="{4073B434-AE22-66AE-7CD7-0C89AFF13B59}"/>
              </a:ext>
            </a:extLst>
          </p:cNvPr>
          <p:cNvCxnSpPr>
            <a:cxnSpLocks/>
          </p:cNvCxnSpPr>
          <p:nvPr/>
        </p:nvCxnSpPr>
        <p:spPr>
          <a:xfrm flipV="1">
            <a:off x="3621273" y="2663469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D6262EC5-3DCF-9B5F-4C42-527C1135FF8F}"/>
              </a:ext>
            </a:extLst>
          </p:cNvPr>
          <p:cNvCxnSpPr>
            <a:cxnSpLocks/>
          </p:cNvCxnSpPr>
          <p:nvPr/>
        </p:nvCxnSpPr>
        <p:spPr>
          <a:xfrm flipV="1">
            <a:off x="4594824" y="4128368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CC2751E1-7625-66CB-0D68-F144ACA9EA18}"/>
              </a:ext>
            </a:extLst>
          </p:cNvPr>
          <p:cNvCxnSpPr>
            <a:cxnSpLocks/>
          </p:cNvCxnSpPr>
          <p:nvPr/>
        </p:nvCxnSpPr>
        <p:spPr>
          <a:xfrm flipV="1">
            <a:off x="5575076" y="2634963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row: Chevron 66">
            <a:extLst>
              <a:ext uri="{FF2B5EF4-FFF2-40B4-BE49-F238E27FC236}">
                <a16:creationId xmlns:a16="http://schemas.microsoft.com/office/drawing/2014/main" xmlns="" id="{4004E906-83D9-5E30-8F4F-8EE38B6515E6}"/>
              </a:ext>
            </a:extLst>
          </p:cNvPr>
          <p:cNvSpPr/>
          <p:nvPr/>
        </p:nvSpPr>
        <p:spPr>
          <a:xfrm>
            <a:off x="2089915" y="3669035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12</a:t>
            </a:r>
          </a:p>
        </p:txBody>
      </p:sp>
      <p:sp>
        <p:nvSpPr>
          <p:cNvPr id="68" name="Arrow: Chevron 67">
            <a:extLst>
              <a:ext uri="{FF2B5EF4-FFF2-40B4-BE49-F238E27FC236}">
                <a16:creationId xmlns:a16="http://schemas.microsoft.com/office/drawing/2014/main" xmlns="" id="{AB2ACC44-0FA3-282E-C318-5654FA0086A8}"/>
              </a:ext>
            </a:extLst>
          </p:cNvPr>
          <p:cNvSpPr/>
          <p:nvPr/>
        </p:nvSpPr>
        <p:spPr>
          <a:xfrm>
            <a:off x="3055866" y="3685423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13</a:t>
            </a:r>
          </a:p>
        </p:txBody>
      </p:sp>
      <p:sp>
        <p:nvSpPr>
          <p:cNvPr id="69" name="Arrow: Chevron 68">
            <a:extLst>
              <a:ext uri="{FF2B5EF4-FFF2-40B4-BE49-F238E27FC236}">
                <a16:creationId xmlns:a16="http://schemas.microsoft.com/office/drawing/2014/main" xmlns="" id="{5C305D62-415B-8CE3-CC87-B696E12E6B1D}"/>
              </a:ext>
            </a:extLst>
          </p:cNvPr>
          <p:cNvSpPr/>
          <p:nvPr/>
        </p:nvSpPr>
        <p:spPr>
          <a:xfrm>
            <a:off x="4029417" y="3685423"/>
            <a:ext cx="1130815" cy="483850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14</a:t>
            </a:r>
          </a:p>
        </p:txBody>
      </p:sp>
      <p:sp>
        <p:nvSpPr>
          <p:cNvPr id="70" name="Arrow: Chevron 69">
            <a:extLst>
              <a:ext uri="{FF2B5EF4-FFF2-40B4-BE49-F238E27FC236}">
                <a16:creationId xmlns:a16="http://schemas.microsoft.com/office/drawing/2014/main" xmlns="" id="{1289A324-CBED-088C-6D41-A054497EB46D}"/>
              </a:ext>
            </a:extLst>
          </p:cNvPr>
          <p:cNvSpPr/>
          <p:nvPr/>
        </p:nvSpPr>
        <p:spPr>
          <a:xfrm>
            <a:off x="5009747" y="3682547"/>
            <a:ext cx="1116159" cy="472142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 15</a:t>
            </a:r>
          </a:p>
        </p:txBody>
      </p:sp>
      <p:sp>
        <p:nvSpPr>
          <p:cNvPr id="71" name="Arrow: Chevron 70">
            <a:extLst>
              <a:ext uri="{FF2B5EF4-FFF2-40B4-BE49-F238E27FC236}">
                <a16:creationId xmlns:a16="http://schemas.microsoft.com/office/drawing/2014/main" xmlns="" id="{1164BE3B-700C-7396-8DC8-A4499B69534B}"/>
              </a:ext>
            </a:extLst>
          </p:cNvPr>
          <p:cNvSpPr/>
          <p:nvPr/>
        </p:nvSpPr>
        <p:spPr>
          <a:xfrm>
            <a:off x="6013109" y="3678131"/>
            <a:ext cx="1093125" cy="469266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IN" sz="1400" dirty="0"/>
              <a:t>Week</a:t>
            </a:r>
          </a:p>
          <a:p>
            <a:r>
              <a:rPr lang="en-IN" sz="1400" dirty="0"/>
              <a:t>    16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AD9051CD-6D70-3CE9-DC1E-AFCF27BE3B02}"/>
              </a:ext>
            </a:extLst>
          </p:cNvPr>
          <p:cNvCxnSpPr>
            <a:cxnSpLocks/>
          </p:cNvCxnSpPr>
          <p:nvPr/>
        </p:nvCxnSpPr>
        <p:spPr>
          <a:xfrm flipV="1">
            <a:off x="6543005" y="4169273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B0C17803-0354-1EDF-3FD3-551FC87AD448}"/>
              </a:ext>
            </a:extLst>
          </p:cNvPr>
          <p:cNvCxnSpPr>
            <a:cxnSpLocks/>
          </p:cNvCxnSpPr>
          <p:nvPr/>
        </p:nvCxnSpPr>
        <p:spPr>
          <a:xfrm flipV="1">
            <a:off x="7533605" y="2612359"/>
            <a:ext cx="0" cy="102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68E58F74-6C1C-E49E-2630-83989A9D1BF1}"/>
              </a:ext>
            </a:extLst>
          </p:cNvPr>
          <p:cNvSpPr txBox="1"/>
          <p:nvPr/>
        </p:nvSpPr>
        <p:spPr>
          <a:xfrm>
            <a:off x="2566950" y="1913609"/>
            <a:ext cx="2200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Configuring code</a:t>
            </a:r>
          </a:p>
          <a:p>
            <a:pPr algn="ctr"/>
            <a:r>
              <a:rPr lang="en-IN" sz="1400" dirty="0"/>
              <a:t> build and performing </a:t>
            </a:r>
          </a:p>
          <a:p>
            <a:pPr algn="ctr"/>
            <a:r>
              <a:rPr lang="en-IN" sz="1400" dirty="0"/>
              <a:t>test for react app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F63E8F8E-AAA1-9665-E8CE-CE0F5C551EF7}"/>
              </a:ext>
            </a:extLst>
          </p:cNvPr>
          <p:cNvSpPr txBox="1"/>
          <p:nvPr/>
        </p:nvSpPr>
        <p:spPr>
          <a:xfrm>
            <a:off x="1524000" y="5113000"/>
            <a:ext cx="20972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AWS code commit, </a:t>
            </a:r>
          </a:p>
          <a:p>
            <a:pPr algn="ctr"/>
            <a:r>
              <a:rPr lang="en-IN" sz="1400" dirty="0"/>
              <a:t>code build, code </a:t>
            </a:r>
          </a:p>
          <a:p>
            <a:pPr algn="ctr"/>
            <a:r>
              <a:rPr lang="en-IN" sz="1400" dirty="0"/>
              <a:t>deploy and code </a:t>
            </a:r>
          </a:p>
          <a:p>
            <a:pPr algn="ctr"/>
            <a:r>
              <a:rPr lang="en-IN" sz="1400" dirty="0"/>
              <a:t>pipeline tutorials.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F400B936-F1AD-A33F-9A1A-44FF96A2E80B}"/>
              </a:ext>
            </a:extLst>
          </p:cNvPr>
          <p:cNvSpPr txBox="1"/>
          <p:nvPr/>
        </p:nvSpPr>
        <p:spPr>
          <a:xfrm>
            <a:off x="3809999" y="5156330"/>
            <a:ext cx="17594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Configuring code </a:t>
            </a:r>
          </a:p>
          <a:p>
            <a:pPr algn="ctr"/>
            <a:r>
              <a:rPr lang="en-IN" sz="1400" dirty="0"/>
              <a:t>pipeline and </a:t>
            </a:r>
          </a:p>
          <a:p>
            <a:pPr algn="ctr"/>
            <a:r>
              <a:rPr lang="en-IN" sz="1400" dirty="0"/>
              <a:t>integrating it with </a:t>
            </a:r>
          </a:p>
          <a:p>
            <a:pPr algn="ctr"/>
            <a:r>
              <a:rPr lang="en-IN" sz="1400" dirty="0"/>
              <a:t>code deploy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7CA5C935-1EE1-6067-D754-308966704165}"/>
              </a:ext>
            </a:extLst>
          </p:cNvPr>
          <p:cNvSpPr txBox="1"/>
          <p:nvPr/>
        </p:nvSpPr>
        <p:spPr>
          <a:xfrm>
            <a:off x="4724400" y="1704127"/>
            <a:ext cx="1905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Configuring UI-</a:t>
            </a:r>
          </a:p>
          <a:p>
            <a:pPr algn="ctr"/>
            <a:r>
              <a:rPr lang="en-IN" sz="1400" dirty="0"/>
              <a:t>testing for react </a:t>
            </a:r>
          </a:p>
          <a:p>
            <a:pPr algn="ctr"/>
            <a:r>
              <a:rPr lang="en-IN" sz="1400" dirty="0"/>
              <a:t>app using</a:t>
            </a:r>
          </a:p>
          <a:p>
            <a:pPr algn="ctr"/>
            <a:r>
              <a:rPr lang="en-IN" sz="1400" dirty="0"/>
              <a:t> ghost inspector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0D71AB6B-BC33-DC4E-E995-1F1B949C896B}"/>
              </a:ext>
            </a:extLst>
          </p:cNvPr>
          <p:cNvSpPr txBox="1"/>
          <p:nvPr/>
        </p:nvSpPr>
        <p:spPr>
          <a:xfrm>
            <a:off x="5619975" y="5213103"/>
            <a:ext cx="22029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Configuring Grafana </a:t>
            </a:r>
          </a:p>
          <a:p>
            <a:pPr algn="ctr"/>
            <a:r>
              <a:rPr lang="en-IN" sz="1400" dirty="0"/>
              <a:t>and JMeter for performance and </a:t>
            </a:r>
          </a:p>
          <a:p>
            <a:pPr algn="ctr"/>
            <a:r>
              <a:rPr lang="en-IN" sz="1400" dirty="0"/>
              <a:t>load testing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AD1A4379-3410-107A-9D6C-90499D901C4B}"/>
              </a:ext>
            </a:extLst>
          </p:cNvPr>
          <p:cNvSpPr txBox="1"/>
          <p:nvPr/>
        </p:nvSpPr>
        <p:spPr>
          <a:xfrm>
            <a:off x="6721449" y="1715065"/>
            <a:ext cx="2109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Testing code pipeline </a:t>
            </a:r>
          </a:p>
          <a:p>
            <a:pPr algn="ctr"/>
            <a:r>
              <a:rPr lang="en-IN" sz="1400" dirty="0"/>
              <a:t>and taking backup </a:t>
            </a:r>
          </a:p>
          <a:p>
            <a:pPr algn="ctr"/>
            <a:r>
              <a:rPr lang="en-IN" sz="1400" dirty="0"/>
              <a:t>of all using AWS </a:t>
            </a:r>
          </a:p>
          <a:p>
            <a:pPr algn="ctr"/>
            <a:r>
              <a:rPr lang="en-IN" sz="1400" dirty="0"/>
              <a:t>backup service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7264DEE7-1D2E-065D-1DC9-FA8F25927F17}"/>
              </a:ext>
            </a:extLst>
          </p:cNvPr>
          <p:cNvSpPr txBox="1"/>
          <p:nvPr/>
        </p:nvSpPr>
        <p:spPr>
          <a:xfrm>
            <a:off x="511228" y="1752600"/>
            <a:ext cx="2055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Project title ,AWS </a:t>
            </a:r>
          </a:p>
          <a:p>
            <a:pPr algn="ctr"/>
            <a:r>
              <a:rPr lang="en-IN" sz="1400" dirty="0"/>
              <a:t>code build and</a:t>
            </a:r>
          </a:p>
          <a:p>
            <a:pPr algn="ctr"/>
            <a:r>
              <a:rPr lang="en-IN" sz="1400" dirty="0"/>
              <a:t> react app hosting </a:t>
            </a:r>
          </a:p>
          <a:p>
            <a:pPr algn="ctr"/>
            <a:r>
              <a:rPr lang="en-IN" sz="1400" dirty="0"/>
              <a:t>on EC2 instance</a:t>
            </a:r>
          </a:p>
        </p:txBody>
      </p:sp>
    </p:spTree>
    <p:extLst>
      <p:ext uri="{BB962C8B-B14F-4D97-AF65-F5344CB8AC3E}">
        <p14:creationId xmlns:p14="http://schemas.microsoft.com/office/powerpoint/2010/main" val="195063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6E9B8A-BB22-1D88-2A9B-C46D1AFA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707952"/>
            <a:ext cx="6589199" cy="52478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71E4CE-6FBB-3AB3-9CB1-34758B6E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76400"/>
            <a:ext cx="6668185" cy="3657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AWS services and cloud computing:-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Understood the different modules of the AWS platform.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Difference between AZ and regions, explored different types of services in detail.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Gained detailed knowledge about types of deployment models, OSI models – layers of OSI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Also got to learn about different operating systems.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Explored the network part and </a:t>
            </a:r>
            <a:r>
              <a:rPr lang="en-IN" altLang="en-US" sz="2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vpc</a:t>
            </a: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part for AWS cloud computing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B17EA5-59E9-C62D-A58A-58477AEB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906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E2C9F6-03D6-F74A-FEE8-7175AB01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6589199" cy="62019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(2-3)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78D646-841C-910D-8942-5FDDFED4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00200"/>
            <a:ext cx="6920564" cy="40062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AWS services and cloud computing.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AWS services and its uses.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AWS account and setup.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services :-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EC2, S3, IAM, Route 53, RDS,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different concepts of AWS platform i.e. where it is used , how to use.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details about AWS Billing and Cost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basic tasks related to the AWS services given by the head of the department.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ClrTx/>
              <a:buNone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A62B90-27E1-2C22-432C-60EB0E1F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38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652C51-8A96-C529-2157-FFF32BEF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36367"/>
            <a:ext cx="6589199" cy="66795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8CD5D8-3B8B-2381-F2D8-DC5263CC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614" y="1447801"/>
            <a:ext cx="6591985" cy="4419600"/>
          </a:xfrm>
        </p:spPr>
        <p:txBody>
          <a:bodyPr>
            <a:norm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Elastic Compute Cloud (EC2):-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Understanding of EC2 services like launch instances, attached extra volumes, created key-pairs, Elastic IP, etc.</a:t>
            </a:r>
          </a:p>
          <a:p>
            <a:pPr algn="just"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Virtual Private Cloud (VPC):-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Understanding of subnets, Route table, what is internet gateway and gained detailed knowledge about security groups and also made it using different ports such as ssh, http, etc.</a:t>
            </a:r>
          </a:p>
          <a:p>
            <a:pPr algn="just" eaLnBrk="1" fontAlgn="auto" hangingPunct="1"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Identity and access management(IAM):-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Learning about IAM access, different policies, roles.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Created custom roles and policies and also applied Multi-Factor Authentication (MFA).</a:t>
            </a:r>
          </a:p>
          <a:p>
            <a:pPr marL="0" indent="0" algn="just" eaLnBrk="1" fontAlgn="auto" hangingPunct="1">
              <a:spcAft>
                <a:spcPts val="0"/>
              </a:spcAft>
              <a:buClrTx/>
              <a:buNone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buClrTx/>
              <a:buNone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buClrTx/>
              <a:buNone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ClrTx/>
              <a:buNone/>
              <a:defRPr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2B137B-80DE-A315-165F-6D3A1B8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1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29B71-1424-FA3E-AB24-1BF83CFF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(4-5)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D210A5-E0E1-E9D5-E6D6-F82DA9F0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00200"/>
            <a:ext cx="6591985" cy="4343400"/>
          </a:xfrm>
        </p:spPr>
        <p:txBody>
          <a:bodyPr>
            <a:norm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Simple Storage Service (S3):-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Created a bucket and learned how to upload files .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Hosted a static webpage on s3.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Learned cross bucket replication.</a:t>
            </a:r>
          </a:p>
          <a:p>
            <a:pPr algn="just"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Relational Database Service (RDS):-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RDS configuration and storage.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Different RDS features like parameter group, options group, exports in S3, etc.</a:t>
            </a:r>
          </a:p>
          <a:p>
            <a:pPr algn="just" eaLnBrk="1" fontAlgn="auto" hangingPunct="1"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IN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Lambda:-</a:t>
            </a:r>
          </a:p>
          <a:p>
            <a:pPr lvl="1" algn="just">
              <a:buClrTx/>
              <a:buFont typeface="Arial" panose="020B0604020202020204" pitchFamily="34" charset="0"/>
              <a:buChar char="•"/>
              <a:defRPr/>
            </a:pPr>
            <a:r>
              <a:rPr lang="en-IN" alt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Created a function to trigger the Cloud watch which automatically take snapshots of the EC2 instance.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BF99A6-F6E3-EBE7-F1E1-163A49E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98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146BB0-5389-6330-7059-F51B8A8EE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98691"/>
            <a:ext cx="6589199" cy="543308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of EC-2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B0B616-0EC2-D6D6-5C22-B257DBF48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938" y="1371600"/>
            <a:ext cx="6591985" cy="52578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tasks for different AWS services:-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EC2- Performed password authentication in windows instance.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connecting , enter the credentials to get login in to windows instance.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B8FED8-0A8B-D8AE-D4BF-FEE27EF5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CF23DD8-F7E0-2BE0-4196-12DE491E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537" y="3200400"/>
            <a:ext cx="6394786" cy="3091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9DB2824-D018-A80F-F3DF-B4DC0CD065DA}"/>
              </a:ext>
            </a:extLst>
          </p:cNvPr>
          <p:cNvSpPr txBox="1"/>
          <p:nvPr/>
        </p:nvSpPr>
        <p:spPr>
          <a:xfrm>
            <a:off x="3827999" y="6292222"/>
            <a:ext cx="2438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1.Remote Desktop Connection </a:t>
            </a:r>
          </a:p>
        </p:txBody>
      </p:sp>
    </p:spTree>
    <p:extLst>
      <p:ext uri="{BB962C8B-B14F-4D97-AF65-F5344CB8AC3E}">
        <p14:creationId xmlns:p14="http://schemas.microsoft.com/office/powerpoint/2010/main" val="306653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3536CE-4312-66EA-4B7E-D70162A7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36367"/>
            <a:ext cx="6589199" cy="66795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of Volume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3C4618-00EC-A391-2D7A-490CD5E3C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95400"/>
            <a:ext cx="6970199" cy="51054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Attached extra volumes to the instance using EC2 service.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using “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lsblk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command to check whether volume is attached or not.</a:t>
            </a: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91AE36-3962-39AB-3698-6EBACC37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FC1D1D3-C03F-12F6-4B3C-FDA86C1F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971800"/>
            <a:ext cx="6019800" cy="2971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A1B21B0-92F4-2760-1EA8-36723DE272E2}"/>
              </a:ext>
            </a:extLst>
          </p:cNvPr>
          <p:cNvSpPr txBox="1"/>
          <p:nvPr/>
        </p:nvSpPr>
        <p:spPr>
          <a:xfrm>
            <a:off x="4114800" y="5928485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2.EC2 instance</a:t>
            </a:r>
          </a:p>
        </p:txBody>
      </p:sp>
    </p:spTree>
    <p:extLst>
      <p:ext uri="{BB962C8B-B14F-4D97-AF65-F5344CB8AC3E}">
        <p14:creationId xmlns:p14="http://schemas.microsoft.com/office/powerpoint/2010/main" val="68257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E380FF-2DE4-D1EE-53DD-E2A9C09F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07613"/>
            <a:ext cx="6589199" cy="52546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5959C4-61F6-B11A-13F9-0F233C3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9" y="1447800"/>
            <a:ext cx="6589199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related to IAM service:-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two groups (Admin, Developer)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with full rights.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with specific right of using only S3 service.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related to S3 service:-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can only be accessed by selected EC2 instance.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related to VPC and EC2:-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route table for a specific virtual private cloud.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made personal Amazon Machine Image (AMI) for the EC2 instance.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0C5E90-4AC0-ED21-19A9-E0E52B87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909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9C004D-0B01-8AC0-EC06-57DDFB05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473" y="650657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(6-7)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2F4B7-B50F-3B88-9CFB-D9C42E84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488857"/>
            <a:ext cx="7391400" cy="5181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Task 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 WordPress site on EC2 machine.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ubuntu instance and install apache using command sudo apt install apache2.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also install MySQL in ubuntu instance.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create directory tmp and install WordPress using co0mmand wget </a:t>
            </a:r>
            <a:r>
              <a:rPr lang="en-IN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https://wordpress.org/latest.tar.gz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extract it.</a:t>
            </a:r>
            <a:endParaRPr lang="en-IN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2D66FF-EFD4-4ACF-DF57-7B7DF607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EBE48653-9F34-2246-E083-B0B29BDB4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xmlns="" id="{7B86DD4E-DA2A-DA66-3151-C51101C8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E7A0A25-5033-D490-8735-1768D5BF0D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3937001"/>
            <a:ext cx="5731510" cy="23846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912A659-76E5-4B14-945A-12ED1D6AB5A0}"/>
              </a:ext>
            </a:extLst>
          </p:cNvPr>
          <p:cNvSpPr txBox="1"/>
          <p:nvPr/>
        </p:nvSpPr>
        <p:spPr>
          <a:xfrm>
            <a:off x="4495800" y="6321621"/>
            <a:ext cx="1477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3.EC-2</a:t>
            </a:r>
          </a:p>
        </p:txBody>
      </p:sp>
    </p:spTree>
    <p:extLst>
      <p:ext uri="{BB962C8B-B14F-4D97-AF65-F5344CB8AC3E}">
        <p14:creationId xmlns:p14="http://schemas.microsoft.com/office/powerpoint/2010/main" val="3444450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B70F5A-CBBA-F994-630D-7B4F33A6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0004"/>
            <a:ext cx="6589199" cy="58068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CA5747-7D36-59A1-6228-103923A4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371600"/>
            <a:ext cx="6624939" cy="5334000"/>
          </a:xfrm>
        </p:spPr>
        <p:txBody>
          <a:bodyPr/>
          <a:lstStyle/>
          <a:p>
            <a:pPr lvl="1" algn="just"/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tab and write the public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instance with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wordpress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like public-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wordpress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set the site.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Firstly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RDS to link database with the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wordpress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then give name of database and user id and password.</a:t>
            </a: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F4A829-7B87-3312-65D0-E3D26790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530094B-D173-14B2-B983-AD5B8468CC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93" y="3235143"/>
            <a:ext cx="5731510" cy="281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4C4FC8C-F2A9-5FEE-6844-137F202ABBC4}"/>
              </a:ext>
            </a:extLst>
          </p:cNvPr>
          <p:cNvSpPr txBox="1"/>
          <p:nvPr/>
        </p:nvSpPr>
        <p:spPr>
          <a:xfrm>
            <a:off x="3160558" y="6165457"/>
            <a:ext cx="2498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4.Database credentials</a:t>
            </a:r>
          </a:p>
        </p:txBody>
      </p:sp>
    </p:spTree>
    <p:extLst>
      <p:ext uri="{BB962C8B-B14F-4D97-AF65-F5344CB8AC3E}">
        <p14:creationId xmlns:p14="http://schemas.microsoft.com/office/powerpoint/2010/main" val="1912700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90CF2-C25E-44C6-E68C-07942458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391" y="685800"/>
            <a:ext cx="6589199" cy="7474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5F7087F-F209-AF85-89F2-39A85004E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271" y="1981200"/>
            <a:ext cx="6294929" cy="3581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B5D65DF-D1C9-6007-23D5-8383CBAB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1E67B3-4EF5-BD68-96DE-3EA39BA73912}"/>
              </a:ext>
            </a:extLst>
          </p:cNvPr>
          <p:cNvSpPr txBox="1"/>
          <p:nvPr/>
        </p:nvSpPr>
        <p:spPr>
          <a:xfrm>
            <a:off x="3977235" y="563880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5.Wordpress site </a:t>
            </a:r>
          </a:p>
        </p:txBody>
      </p:sp>
    </p:spTree>
    <p:extLst>
      <p:ext uri="{BB962C8B-B14F-4D97-AF65-F5344CB8AC3E}">
        <p14:creationId xmlns:p14="http://schemas.microsoft.com/office/powerpoint/2010/main" val="292157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0E64AD-C31C-3AB6-1077-F6F9D6F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0992"/>
            <a:ext cx="6589199" cy="7474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hosting on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D15C6C-F2D7-A67E-2641-2A89BDBA7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192" y="1447800"/>
            <a:ext cx="7010399" cy="54102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– Static site hosting in S3 bucket.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S3 bucket and enable public access to it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enable static site hosting and upload static site in bucket.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open site from s3 bucket.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0D20A4-2A6B-250C-3929-C17797A2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34B3C6A-FD6E-1520-4D60-F8004FF3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3549797"/>
            <a:ext cx="6553200" cy="283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825A89B-2B6D-E517-BC8B-18E1A3D6DF14}"/>
              </a:ext>
            </a:extLst>
          </p:cNvPr>
          <p:cNvSpPr txBox="1"/>
          <p:nvPr/>
        </p:nvSpPr>
        <p:spPr>
          <a:xfrm>
            <a:off x="4495800" y="635589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6.S3 Bucket</a:t>
            </a:r>
          </a:p>
        </p:txBody>
      </p:sp>
    </p:spTree>
    <p:extLst>
      <p:ext uri="{BB962C8B-B14F-4D97-AF65-F5344CB8AC3E}">
        <p14:creationId xmlns:p14="http://schemas.microsoft.com/office/powerpoint/2010/main" val="126941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D2B11A-43D1-5C59-78BE-FB057959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A5E6A-0B01-855F-EF9C-1AFAF4D3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72800"/>
            <a:ext cx="6589199" cy="5950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site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B5C1BC-728E-6BBA-16F5-E1581C959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524000"/>
            <a:ext cx="7010399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83AD4FD-17A8-42A4-CF5E-5AC73E8E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0C40B62-111A-2984-AC32-6FB2CB34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28800"/>
            <a:ext cx="6172200" cy="335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8952A60-A127-A054-177F-C7DFB34805A1}"/>
              </a:ext>
            </a:extLst>
          </p:cNvPr>
          <p:cNvSpPr txBox="1"/>
          <p:nvPr/>
        </p:nvSpPr>
        <p:spPr>
          <a:xfrm>
            <a:off x="3771900" y="5283821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7. Static site hosting</a:t>
            </a:r>
          </a:p>
        </p:txBody>
      </p:sp>
    </p:spTree>
    <p:extLst>
      <p:ext uri="{BB962C8B-B14F-4D97-AF65-F5344CB8AC3E}">
        <p14:creationId xmlns:p14="http://schemas.microsoft.com/office/powerpoint/2010/main" val="2154082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2BE5DE-B63C-967B-8395-57B9224E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700" y="692191"/>
            <a:ext cx="6589199" cy="556308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F508E49-5753-C8D6-BB3A-B1F411D6E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905000"/>
            <a:ext cx="6019800" cy="32989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E3A647-557A-5552-8963-CFD6DDA0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292C55C-D98D-F097-B5B4-CCDFC2BDC56B}"/>
              </a:ext>
            </a:extLst>
          </p:cNvPr>
          <p:cNvSpPr txBox="1"/>
          <p:nvPr/>
        </p:nvSpPr>
        <p:spPr>
          <a:xfrm>
            <a:off x="4114800" y="53340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8.Drumkit site</a:t>
            </a:r>
          </a:p>
        </p:txBody>
      </p:sp>
    </p:spTree>
    <p:extLst>
      <p:ext uri="{BB962C8B-B14F-4D97-AF65-F5344CB8AC3E}">
        <p14:creationId xmlns:p14="http://schemas.microsoft.com/office/powerpoint/2010/main" val="1357813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1C7E29-C4D9-C4DE-1622-7EE1039A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76115"/>
            <a:ext cx="6589199" cy="58846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of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50E68F-2BB5-659D-DACB-0C5DAC077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1" y="1447800"/>
            <a:ext cx="6934200" cy="5181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– Cross Bucket Replication.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155638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creates replication of bucket of bucket in different bucket.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155638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can be created using bucket policy in destination bucket policy.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64D1F3-FEAE-68C2-BACC-0DD013DB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A4B7ECB-F797-21A0-D171-71ADAB69E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99" y="3270985"/>
            <a:ext cx="6095999" cy="2977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06A9D67-1861-C0AD-8085-40B02C8E8E71}"/>
              </a:ext>
            </a:extLst>
          </p:cNvPr>
          <p:cNvSpPr txBox="1"/>
          <p:nvPr/>
        </p:nvSpPr>
        <p:spPr>
          <a:xfrm>
            <a:off x="4343400" y="619036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9.Bucket policy</a:t>
            </a:r>
          </a:p>
        </p:txBody>
      </p:sp>
    </p:spTree>
    <p:extLst>
      <p:ext uri="{BB962C8B-B14F-4D97-AF65-F5344CB8AC3E}">
        <p14:creationId xmlns:p14="http://schemas.microsoft.com/office/powerpoint/2010/main" val="289447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9DA84C-C414-BD6F-0AA6-BDB1C768D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BA596F-565D-D748-7605-FCE2AE26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0"/>
            <a:ext cx="6705601" cy="495300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IN" sz="3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Connection of EC2 instance from public and private subnet.</a:t>
            </a:r>
          </a:p>
          <a:p>
            <a:pPr lvl="1"/>
            <a:r>
              <a:rPr lang="en-IN" sz="3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Firstly, create two instance from which only one should be assigned public address and other should be assigned private address.</a:t>
            </a:r>
          </a:p>
          <a:p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IN" sz="3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IGW and NAT as it is used to route.</a:t>
            </a: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D2A076-F39F-EA08-96E0-55C31A29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F946AA-5912-4CA1-9E50-4548D45E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036" y="2897839"/>
            <a:ext cx="6019800" cy="2686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DD5CDC5-A7C3-2414-946C-E398A8DF7C70}"/>
              </a:ext>
            </a:extLst>
          </p:cNvPr>
          <p:cNvSpPr txBox="1"/>
          <p:nvPr/>
        </p:nvSpPr>
        <p:spPr>
          <a:xfrm>
            <a:off x="4343400" y="555434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10.EC-2 Instance</a:t>
            </a:r>
          </a:p>
        </p:txBody>
      </p:sp>
    </p:spTree>
    <p:extLst>
      <p:ext uri="{BB962C8B-B14F-4D97-AF65-F5344CB8AC3E}">
        <p14:creationId xmlns:p14="http://schemas.microsoft.com/office/powerpoint/2010/main" val="15623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35F04E-F7A7-058D-53BB-58466FB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75855"/>
            <a:ext cx="6589199" cy="58898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C11C61-3197-0CEF-EC62-3BB12763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514954"/>
            <a:ext cx="6858000" cy="4885846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create two subnets public and private , moreover route the route table of both subnets.</a:t>
            </a: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the private instance can not be access from local machine, it can be access from machine which is present in public subnet.</a:t>
            </a:r>
          </a:p>
          <a:p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BD0A46-10AB-52B6-9BAB-2FA40C9E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35BD991-D6CD-FBA3-CF56-72DC9933B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99" y="2396190"/>
            <a:ext cx="5791200" cy="2662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90E7420-2816-EBB0-6E2F-EBB4D17BBFA0}"/>
              </a:ext>
            </a:extLst>
          </p:cNvPr>
          <p:cNvSpPr txBox="1"/>
          <p:nvPr/>
        </p:nvSpPr>
        <p:spPr>
          <a:xfrm>
            <a:off x="4191000" y="503526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11.Route Table</a:t>
            </a:r>
          </a:p>
        </p:txBody>
      </p:sp>
    </p:spTree>
    <p:extLst>
      <p:ext uri="{BB962C8B-B14F-4D97-AF65-F5344CB8AC3E}">
        <p14:creationId xmlns:p14="http://schemas.microsoft.com/office/powerpoint/2010/main" val="2365360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DEDCF-2D19-B3DA-D6D9-74BE5993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01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(8-9)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274A62-717E-4D45-58C3-5C08874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447800"/>
            <a:ext cx="6858000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EC2 backup snapshot and restore it.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Firstly create snapshot of instance in EC2 service.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051059-46A7-4194-1149-618F110B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AF3B80-14E7-E812-0379-6CE6CAFFA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20184"/>
            <a:ext cx="5943600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A0FF826-FBA2-02F2-6D30-3C194D24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808998"/>
            <a:ext cx="5943600" cy="1435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2B2D9E2-E4A4-0901-2937-023CBD1AD159}"/>
              </a:ext>
            </a:extLst>
          </p:cNvPr>
          <p:cNvSpPr txBox="1"/>
          <p:nvPr/>
        </p:nvSpPr>
        <p:spPr>
          <a:xfrm>
            <a:off x="4343400" y="445833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12.Snapshot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1292A0C-1763-5C38-8A3A-2CBC62D30D0A}"/>
              </a:ext>
            </a:extLst>
          </p:cNvPr>
          <p:cNvSpPr txBox="1"/>
          <p:nvPr/>
        </p:nvSpPr>
        <p:spPr>
          <a:xfrm>
            <a:off x="4114800" y="6244156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13.Snapshot created</a:t>
            </a:r>
          </a:p>
        </p:txBody>
      </p:sp>
    </p:spTree>
    <p:extLst>
      <p:ext uri="{BB962C8B-B14F-4D97-AF65-F5344CB8AC3E}">
        <p14:creationId xmlns:p14="http://schemas.microsoft.com/office/powerpoint/2010/main" val="352220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344031-0A86-0E20-3B29-3BA08D95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843" y="658459"/>
            <a:ext cx="6589199" cy="6226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Machine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3FFEEE-37A8-AF62-44ED-724AF5EB1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71600"/>
            <a:ext cx="6858001" cy="5486400"/>
          </a:xfrm>
        </p:spPr>
        <p:txBody>
          <a:bodyPr/>
          <a:lstStyle/>
          <a:p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create image of that snapshot.</a:t>
            </a:r>
          </a:p>
          <a:p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image created will be visible in AMI and it restore the instance from it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DB8F85-84B7-05CE-6187-FB5BDCBC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BE8F165-D49F-C082-D807-B1FF7A00E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68" y="2476500"/>
            <a:ext cx="594360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990B01A-70D1-C3AB-4B10-4F5745237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98" y="4665666"/>
            <a:ext cx="5943599" cy="1790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E65F6B2-42DB-CF79-52BC-F30F86AB3752}"/>
              </a:ext>
            </a:extLst>
          </p:cNvPr>
          <p:cNvSpPr txBox="1"/>
          <p:nvPr/>
        </p:nvSpPr>
        <p:spPr>
          <a:xfrm>
            <a:off x="4343400" y="4337801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14.AMI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3B07B43-7B43-3103-C39A-2EC78752E439}"/>
              </a:ext>
            </a:extLst>
          </p:cNvPr>
          <p:cNvSpPr txBox="1"/>
          <p:nvPr/>
        </p:nvSpPr>
        <p:spPr>
          <a:xfrm>
            <a:off x="4191000" y="6416777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15.New instance</a:t>
            </a:r>
          </a:p>
        </p:txBody>
      </p:sp>
    </p:spTree>
    <p:extLst>
      <p:ext uri="{BB962C8B-B14F-4D97-AF65-F5344CB8AC3E}">
        <p14:creationId xmlns:p14="http://schemas.microsoft.com/office/powerpoint/2010/main" val="854667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214A2D-A66D-BF15-F418-CA8063D9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65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5FA04B-1393-EFAF-E921-6BE1927E1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447800"/>
            <a:ext cx="6781800" cy="525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Lambda function to trigger when file is uploaded in S3 and update file logs in </a:t>
            </a:r>
            <a:r>
              <a:rPr lang="en-IN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IN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ynamodb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function in lambda named lambda-function and add trigger S3 bucket.</a:t>
            </a: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bucket name in code source inside the lambda function file and test and deploy the file.</a:t>
            </a: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3E3A9E6-24CD-0C1E-82DB-5AF548B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3933383-4D6E-23DF-6D44-2BEAFFEC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1" y="2667000"/>
            <a:ext cx="6019800" cy="259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D0569E9-4CEF-B808-214B-CB274E6D0D01}"/>
              </a:ext>
            </a:extLst>
          </p:cNvPr>
          <p:cNvSpPr txBox="1"/>
          <p:nvPr/>
        </p:nvSpPr>
        <p:spPr>
          <a:xfrm>
            <a:off x="4191000" y="5349354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16.Lambda Function</a:t>
            </a:r>
          </a:p>
        </p:txBody>
      </p:sp>
    </p:spTree>
    <p:extLst>
      <p:ext uri="{BB962C8B-B14F-4D97-AF65-F5344CB8AC3E}">
        <p14:creationId xmlns:p14="http://schemas.microsoft.com/office/powerpoint/2010/main" val="1370063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3D3DC-2AF2-8326-D123-FCC324EB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700" y="669939"/>
            <a:ext cx="6589199" cy="66001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Dynamo </a:t>
            </a:r>
            <a:r>
              <a:rPr lang="en-IN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5D59A3-C01B-E2A3-1CC4-6F4C08EF0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371600"/>
            <a:ext cx="6781800" cy="548639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file in S3 bucket and the lambda function will be trigger and the files will directly updated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F6BBE1-5263-84EA-B98C-EC4A9136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1F41FCF-F01E-F72D-9A96-210D147D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99" y="2091288"/>
            <a:ext cx="5867400" cy="2133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D50D84F-3251-E218-F7E2-AB792DC97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499" y="4605889"/>
            <a:ext cx="5867400" cy="19502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5E3EBBE-F9CF-0A54-7D5C-DED6FEA425D5}"/>
              </a:ext>
            </a:extLst>
          </p:cNvPr>
          <p:cNvSpPr txBox="1"/>
          <p:nvPr/>
        </p:nvSpPr>
        <p:spPr>
          <a:xfrm>
            <a:off x="4310514" y="41961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17.Code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B451EA0-E850-CA14-6480-93BF0604C080}"/>
              </a:ext>
            </a:extLst>
          </p:cNvPr>
          <p:cNvSpPr txBox="1"/>
          <p:nvPr/>
        </p:nvSpPr>
        <p:spPr>
          <a:xfrm>
            <a:off x="4343400" y="650427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18.Dynamodb</a:t>
            </a:r>
          </a:p>
        </p:txBody>
      </p:sp>
    </p:spTree>
    <p:extLst>
      <p:ext uri="{BB962C8B-B14F-4D97-AF65-F5344CB8AC3E}">
        <p14:creationId xmlns:p14="http://schemas.microsoft.com/office/powerpoint/2010/main" val="1333091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D63DAE-0D40-1025-ACCF-8F7AC36A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94337"/>
            <a:ext cx="6589199" cy="55201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6300E1-2F6E-A3CC-54D2-B8B40C8C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344090"/>
            <a:ext cx="6781800" cy="53615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Lambda function to create snapshot on daily basis of EC2 and store in S3 using </a:t>
            </a: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loudWatch.</a:t>
            </a:r>
          </a:p>
          <a:p>
            <a:pPr lvl="1"/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lambda function named lambda-ec2-backup and add trigger CloudWatch Events.</a:t>
            </a: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329F3F8-7936-4132-2E3D-ADEA4CBA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944C9B3-9747-7BFA-853F-9D71D547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1" y="2971800"/>
            <a:ext cx="5867400" cy="2895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860F088-3E2D-45CF-3741-C5342CA61E09}"/>
              </a:ext>
            </a:extLst>
          </p:cNvPr>
          <p:cNvSpPr txBox="1"/>
          <p:nvPr/>
        </p:nvSpPr>
        <p:spPr>
          <a:xfrm>
            <a:off x="4495799" y="5927601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19.Trigger</a:t>
            </a:r>
          </a:p>
        </p:txBody>
      </p:sp>
    </p:spTree>
    <p:extLst>
      <p:ext uri="{BB962C8B-B14F-4D97-AF65-F5344CB8AC3E}">
        <p14:creationId xmlns:p14="http://schemas.microsoft.com/office/powerpoint/2010/main" val="2619959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2D932C-E7B6-E7D8-A205-465E5AC3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600" y="705265"/>
            <a:ext cx="6589199" cy="59624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4C3DD0C1-119D-4BC6-D9E6-EFCC1FAA6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396" y="1524000"/>
            <a:ext cx="6781801" cy="4800600"/>
          </a:xfrm>
        </p:spPr>
        <p:txBody>
          <a:bodyPr>
            <a:normAutofit/>
          </a:bodyPr>
          <a:lstStyle/>
          <a:p>
            <a:r>
              <a:rPr lang="en-IN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 bucket name and instance id of your instance in the </a:t>
            </a:r>
            <a:r>
              <a:rPr lang="en-IN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IN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of lambda code source.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F999CB3-B312-5FAA-18BE-6FC09CEC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xmlns="" id="{F748A3F0-B53B-525B-4140-6A5E587F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98" y="2523833"/>
            <a:ext cx="5943601" cy="304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F98D928-6B80-FC05-93C0-947AB51BA552}"/>
              </a:ext>
            </a:extLst>
          </p:cNvPr>
          <p:cNvSpPr txBox="1"/>
          <p:nvPr/>
        </p:nvSpPr>
        <p:spPr>
          <a:xfrm>
            <a:off x="3877096" y="564043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20.Code source</a:t>
            </a:r>
          </a:p>
        </p:txBody>
      </p:sp>
    </p:spTree>
    <p:extLst>
      <p:ext uri="{BB962C8B-B14F-4D97-AF65-F5344CB8AC3E}">
        <p14:creationId xmlns:p14="http://schemas.microsoft.com/office/powerpoint/2010/main" val="664107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B660FE-F431-6DF7-8178-0305C6EF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712818"/>
            <a:ext cx="6781800" cy="56356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CloudWatch Event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55AD7D3A-289D-9F43-7E4C-1A77B5CF6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600200"/>
            <a:ext cx="6781800" cy="480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 CloudWatch Event, define the schedule at which time you want to take snapshots, it will automatically take snapshots as per your schedule.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13E59D-E9BA-55D9-C5D2-A60143D4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xmlns="" id="{FB3405F9-80E7-D991-B638-1506851F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571782"/>
            <a:ext cx="6019800" cy="35051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BDBC445-ABC2-F376-CDAC-9AB7C96A2279}"/>
              </a:ext>
            </a:extLst>
          </p:cNvPr>
          <p:cNvSpPr txBox="1"/>
          <p:nvPr/>
        </p:nvSpPr>
        <p:spPr>
          <a:xfrm>
            <a:off x="3924301" y="6091176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21.Define Schedule</a:t>
            </a:r>
          </a:p>
        </p:txBody>
      </p:sp>
    </p:spTree>
    <p:extLst>
      <p:ext uri="{BB962C8B-B14F-4D97-AF65-F5344CB8AC3E}">
        <p14:creationId xmlns:p14="http://schemas.microsoft.com/office/powerpoint/2010/main" val="2512988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99506-7964-9595-6792-A8B1ADA7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600" y="634700"/>
            <a:ext cx="6589199" cy="6712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of RDS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929EE0-FB0B-8A55-0E86-D39F4209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447800"/>
            <a:ext cx="6629400" cy="5334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RDS (Microsoft SQL) backup in S3 using RDS option group.</a:t>
            </a:r>
          </a:p>
          <a:p>
            <a:pPr lvl="1"/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Firstly, it requires the SSMS to connect RDS from local machine and helps to take backup of database in S3 bucket.</a:t>
            </a: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IN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a new database in SSMS and add your bucket ARN in which you want the backup files of RDS.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F4A3D2-86AE-BB89-C887-AC8CE891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884830C-4AC8-8CC8-EB06-388BD6B8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40439"/>
            <a:ext cx="5943600" cy="289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0BC2D64-E672-EAA9-B748-87CAD44C0570}"/>
              </a:ext>
            </a:extLst>
          </p:cNvPr>
          <p:cNvSpPr txBox="1"/>
          <p:nvPr/>
        </p:nvSpPr>
        <p:spPr>
          <a:xfrm>
            <a:off x="4648200" y="573603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22.SSMS</a:t>
            </a:r>
          </a:p>
        </p:txBody>
      </p:sp>
    </p:spTree>
    <p:extLst>
      <p:ext uri="{BB962C8B-B14F-4D97-AF65-F5344CB8AC3E}">
        <p14:creationId xmlns:p14="http://schemas.microsoft.com/office/powerpoint/2010/main" val="1534840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7E486A-5DA7-67B8-54AC-FF5BE23B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0208"/>
            <a:ext cx="6589199" cy="7474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SSMS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702B02DE-1283-D5BF-07AC-C084F545C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688" y="1344090"/>
            <a:ext cx="6705600" cy="551391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AF34C5-FFA0-E931-C68D-9AE2CF90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xmlns="" id="{B85515D9-D744-775F-D41C-4CA161D66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1" y="1524000"/>
            <a:ext cx="5638800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813E58A-F648-E7B6-F55A-F33FFB2AF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1" y="3897022"/>
            <a:ext cx="5638801" cy="24909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43A73C2-6F84-B2B8-773A-420B4A5E5CBE}"/>
              </a:ext>
            </a:extLst>
          </p:cNvPr>
          <p:cNvSpPr txBox="1"/>
          <p:nvPr/>
        </p:nvSpPr>
        <p:spPr>
          <a:xfrm>
            <a:off x="4267200" y="345724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23.Database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A438576-3126-44E8-9131-AAC45749C618}"/>
              </a:ext>
            </a:extLst>
          </p:cNvPr>
          <p:cNvSpPr txBox="1"/>
          <p:nvPr/>
        </p:nvSpPr>
        <p:spPr>
          <a:xfrm>
            <a:off x="4038600" y="6366064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24.Connection of S3</a:t>
            </a:r>
          </a:p>
        </p:txBody>
      </p:sp>
    </p:spTree>
    <p:extLst>
      <p:ext uri="{BB962C8B-B14F-4D97-AF65-F5344CB8AC3E}">
        <p14:creationId xmlns:p14="http://schemas.microsoft.com/office/powerpoint/2010/main" val="3972016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6338C6-45BC-02B6-ECBD-DA6AA42BB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55700"/>
            <a:ext cx="6589199" cy="7474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in S3 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AB5EE1-B159-C62E-6BE5-5BEB79A37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1" y="1524000"/>
            <a:ext cx="6705600" cy="4876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backup files will get updated in the S3 bucket named rds-bucket-123.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5AF0A8-206D-6E19-1E34-EC8ACC9B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6AF2965-2F0C-8DB3-2C69-6B7F1934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590800"/>
            <a:ext cx="6248400" cy="3122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44E18DC-4757-94F3-1E32-0200875AC5C7}"/>
              </a:ext>
            </a:extLst>
          </p:cNvPr>
          <p:cNvSpPr txBox="1"/>
          <p:nvPr/>
        </p:nvSpPr>
        <p:spPr>
          <a:xfrm>
            <a:off x="4572000" y="5713511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25.Backup files</a:t>
            </a:r>
          </a:p>
        </p:txBody>
      </p:sp>
    </p:spTree>
    <p:extLst>
      <p:ext uri="{BB962C8B-B14F-4D97-AF65-F5344CB8AC3E}">
        <p14:creationId xmlns:p14="http://schemas.microsoft.com/office/powerpoint/2010/main" val="418314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BF33BF-C780-C831-B62B-4FE42C0B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48455"/>
            <a:ext cx="6589199" cy="64378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hosting on EC-2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11E2D8-85DC-1100-A4A6-9882038E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344090"/>
            <a:ext cx="6781800" cy="53615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– Hosting React and Node website on EC-2 machine.</a:t>
            </a:r>
          </a:p>
          <a:p>
            <a:pPr lvl="1"/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Both website are static and are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clonned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from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using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git clone 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command.</a:t>
            </a:r>
          </a:p>
          <a:p>
            <a:pPr lvl="1"/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Install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npm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 EC2 machine to run the website in machine.</a:t>
            </a: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IN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 port 3000 in the inbound rules of security group to run React site on it and port 80 for Node website.</a:t>
            </a:r>
          </a:p>
          <a:p>
            <a:pPr marL="0" indent="0">
              <a:buNone/>
            </a:pPr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88466CB-0E67-2480-77B2-4FDAD093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xmlns="" id="{50C9AD58-1F10-4695-FC88-427000172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89" y="2895600"/>
            <a:ext cx="5731510" cy="2514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E6F40BA-F60D-6FFD-5A55-1812455F5E5C}"/>
              </a:ext>
            </a:extLst>
          </p:cNvPr>
          <p:cNvSpPr txBox="1"/>
          <p:nvPr/>
        </p:nvSpPr>
        <p:spPr>
          <a:xfrm>
            <a:off x="3924301" y="5410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26.EC-2 Machine</a:t>
            </a:r>
          </a:p>
        </p:txBody>
      </p:sp>
    </p:spTree>
    <p:extLst>
      <p:ext uri="{BB962C8B-B14F-4D97-AF65-F5344CB8AC3E}">
        <p14:creationId xmlns:p14="http://schemas.microsoft.com/office/powerpoint/2010/main" val="2609975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8B882B-7A40-AF01-AEA4-5463DEDA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17666"/>
            <a:ext cx="6589199" cy="7474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450A16B3-5E4D-0BE4-AE0F-0B8B54316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408355"/>
            <a:ext cx="6781800" cy="45028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5DEBEAF-D73D-EA9C-1430-937D1C8C6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xmlns="" id="{4047678E-2836-5128-E2A4-6CFE7DB40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431" y="1555656"/>
            <a:ext cx="6096000" cy="2025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667D8F2-AD46-8CCA-1B37-B77B8D80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431" y="3962400"/>
            <a:ext cx="6096000" cy="2450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B09B713-B161-5FB2-1CCB-D9992E9FE843}"/>
              </a:ext>
            </a:extLst>
          </p:cNvPr>
          <p:cNvSpPr txBox="1"/>
          <p:nvPr/>
        </p:nvSpPr>
        <p:spPr>
          <a:xfrm>
            <a:off x="4492169" y="3574812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27.Security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57E4FBF-4AB4-E4F2-2F89-44D19E3A60DA}"/>
              </a:ext>
            </a:extLst>
          </p:cNvPr>
          <p:cNvSpPr txBox="1"/>
          <p:nvPr/>
        </p:nvSpPr>
        <p:spPr>
          <a:xfrm>
            <a:off x="4471939" y="6397418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28.React site</a:t>
            </a:r>
          </a:p>
        </p:txBody>
      </p:sp>
    </p:spTree>
    <p:extLst>
      <p:ext uri="{BB962C8B-B14F-4D97-AF65-F5344CB8AC3E}">
        <p14:creationId xmlns:p14="http://schemas.microsoft.com/office/powerpoint/2010/main" val="2900995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C48082-55CA-189C-45CC-2BD579C8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600" y="663512"/>
            <a:ext cx="6589199" cy="7474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DE00704-160C-4F42-C846-425039A5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0"/>
            <a:ext cx="6781801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2BA6EA3-B919-A242-8156-6038A74C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BA1F734A-BD68-7C35-9C2F-238C6ECD4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99" y="1524000"/>
            <a:ext cx="5791200" cy="1536919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F1920556-6790-5C88-BE4F-A1A348704A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99" y="3570589"/>
            <a:ext cx="5814127" cy="2724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5D620F-2265-D580-B327-ED5BA79181AD}"/>
              </a:ext>
            </a:extLst>
          </p:cNvPr>
          <p:cNvSpPr txBox="1"/>
          <p:nvPr/>
        </p:nvSpPr>
        <p:spPr>
          <a:xfrm>
            <a:off x="4343400" y="3016577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29.Node JS 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7BFA504-8A32-2D58-1997-71B896F32858}"/>
              </a:ext>
            </a:extLst>
          </p:cNvPr>
          <p:cNvSpPr txBox="1"/>
          <p:nvPr/>
        </p:nvSpPr>
        <p:spPr>
          <a:xfrm>
            <a:off x="4038600" y="626085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30.Node JS on 80 port</a:t>
            </a:r>
          </a:p>
        </p:txBody>
      </p:sp>
    </p:spTree>
    <p:extLst>
      <p:ext uri="{BB962C8B-B14F-4D97-AF65-F5344CB8AC3E}">
        <p14:creationId xmlns:p14="http://schemas.microsoft.com/office/powerpoint/2010/main" val="3099128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DBB277-C4AA-1FCE-FC5F-2EE11E9B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703" y="624110"/>
            <a:ext cx="6589199" cy="671290"/>
          </a:xfrm>
        </p:spPr>
        <p:txBody>
          <a:bodyPr/>
          <a:lstStyle/>
          <a:p>
            <a:pPr algn="ctr"/>
            <a:r>
              <a:rPr lang="en-US" sz="3200" b="1" dirty="0"/>
              <a:t>Flowchart</a:t>
            </a:r>
            <a:r>
              <a:rPr lang="en-US" b="1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6183BA5-998D-B14D-C120-6BBF24146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06" y="1295400"/>
            <a:ext cx="7438194" cy="4800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691018B-C878-8520-F5F8-935D32BE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21A6911-380C-FDBE-7122-642BB0CB0DAD}"/>
              </a:ext>
            </a:extLst>
          </p:cNvPr>
          <p:cNvSpPr txBox="1"/>
          <p:nvPr/>
        </p:nvSpPr>
        <p:spPr>
          <a:xfrm>
            <a:off x="3065999" y="6120685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Fig .1 CI/CD Pipeline Flowchart</a:t>
            </a:r>
          </a:p>
        </p:txBody>
      </p:sp>
    </p:spTree>
    <p:extLst>
      <p:ext uri="{BB962C8B-B14F-4D97-AF65-F5344CB8AC3E}">
        <p14:creationId xmlns:p14="http://schemas.microsoft.com/office/powerpoint/2010/main" val="1537146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6E9B8A-BB22-1D88-2A9B-C46D1AFA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50288"/>
            <a:ext cx="6589199" cy="7213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71E4CE-6FBB-3AB3-9CB1-34758B6E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33891"/>
            <a:ext cx="6668185" cy="4158622"/>
          </a:xfrm>
        </p:spPr>
        <p:txBody>
          <a:bodyPr>
            <a:normAutofit fontScale="92500" lnSpcReduction="10000"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Code pipeline</a:t>
            </a:r>
          </a:p>
          <a:p>
            <a:r>
              <a:rPr lang="en-IN" sz="1900" dirty="0">
                <a:solidFill>
                  <a:schemeClr val="tx1"/>
                </a:solidFill>
              </a:rPr>
              <a:t>GitHub</a:t>
            </a:r>
          </a:p>
          <a:p>
            <a:r>
              <a:rPr lang="en-IN" sz="1900" dirty="0">
                <a:solidFill>
                  <a:schemeClr val="tx1"/>
                </a:solidFill>
              </a:rPr>
              <a:t>Code build</a:t>
            </a:r>
          </a:p>
          <a:p>
            <a:r>
              <a:rPr lang="en-IN" sz="1900" dirty="0">
                <a:solidFill>
                  <a:schemeClr val="tx1"/>
                </a:solidFill>
              </a:rPr>
              <a:t>Code deploy</a:t>
            </a:r>
          </a:p>
          <a:p>
            <a:r>
              <a:rPr lang="en-IN" sz="1900" dirty="0">
                <a:solidFill>
                  <a:schemeClr val="tx1"/>
                </a:solidFill>
              </a:rPr>
              <a:t>UI-Testing (Ghost Inspector)</a:t>
            </a:r>
          </a:p>
          <a:p>
            <a:r>
              <a:rPr lang="en-IN" sz="1900" dirty="0">
                <a:solidFill>
                  <a:schemeClr val="tx1"/>
                </a:solidFill>
              </a:rPr>
              <a:t>Performance Testing (JMeter)</a:t>
            </a:r>
          </a:p>
          <a:p>
            <a:r>
              <a:rPr lang="en-IN" sz="1900" dirty="0">
                <a:solidFill>
                  <a:schemeClr val="tx1"/>
                </a:solidFill>
              </a:rPr>
              <a:t>Lambda function</a:t>
            </a:r>
          </a:p>
          <a:p>
            <a:r>
              <a:rPr lang="en-IN" sz="1900" dirty="0">
                <a:solidFill>
                  <a:schemeClr val="tx1"/>
                </a:solidFill>
              </a:rPr>
              <a:t>Load Testing (Grafana)</a:t>
            </a:r>
          </a:p>
          <a:p>
            <a:r>
              <a:rPr lang="en-IN" sz="1900" dirty="0">
                <a:solidFill>
                  <a:schemeClr val="tx1"/>
                </a:solidFill>
              </a:rPr>
              <a:t>AWS S3 bucket</a:t>
            </a:r>
          </a:p>
          <a:p>
            <a:r>
              <a:rPr lang="en-IN" sz="1900" dirty="0">
                <a:solidFill>
                  <a:schemeClr val="tx1"/>
                </a:solidFill>
              </a:rPr>
              <a:t>Staging deploy (EC2 instance)</a:t>
            </a:r>
          </a:p>
          <a:p>
            <a:r>
              <a:rPr lang="en-IN" sz="1900" dirty="0">
                <a:solidFill>
                  <a:schemeClr val="tx1"/>
                </a:solidFill>
              </a:rPr>
              <a:t>Production deploy (EC2 instance)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B17EA5-59E9-C62D-A58A-58477AEB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906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E2C9F6-03D6-F74A-FEE8-7175AB01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37" y="624110"/>
            <a:ext cx="6589199" cy="12808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78D646-841C-910D-8942-5FDDFED4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472" y="1524000"/>
            <a:ext cx="6920564" cy="3761802"/>
          </a:xfrm>
        </p:spPr>
        <p:txBody>
          <a:bodyPr/>
          <a:lstStyle/>
          <a:p>
            <a:pPr algn="just"/>
            <a:r>
              <a:rPr lang="en-IN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Firstly , developer will do pull request to main git repository to implement any changes to main branch.</a:t>
            </a:r>
          </a:p>
          <a:p>
            <a:pPr algn="just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pull request is a gatekeeper that blocks code commits to the mainline branch and deployments to production</a:t>
            </a:r>
            <a:r>
              <a:rPr lang="en-IN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 code hosting and version  control we use </a:t>
            </a:r>
            <a:r>
              <a:rPr lang="en-IN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n-IN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A62B90-27E1-2C22-432C-60EB0E1F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388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652C51-8A96-C529-2157-FFF32BEF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609600"/>
            <a:ext cx="6589199" cy="128089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8CD5D8-3B8B-2381-F2D8-DC5263CC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447800"/>
            <a:ext cx="7013185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</a:rPr>
              <a:t>GitHub is popular among people in the IT industry due to its easy-to-understand UI and its ability to act as a progress tracker using a Version Control System to track changes. 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This enables projects to be collaborative. 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GitHub is a hosting platform used by developers to save their code online and track its changes to see what will work when it comes to them working on their projects.</a:t>
            </a:r>
          </a:p>
          <a:p>
            <a:pPr marL="0" indent="0" algn="just">
              <a:buNone/>
            </a:pPr>
            <a:endParaRPr lang="en-IN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2B137B-80DE-A315-165F-6D3A1B8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13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3037EE-F24E-FC2C-53C8-30760876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1656"/>
            <a:ext cx="6589199" cy="74749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Screenshot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828800"/>
            <a:ext cx="6591300" cy="37057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8C3E983-B080-0315-4B34-BE14F80B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FB7857-CA2D-4D48-6208-C78305A2F2CC}"/>
              </a:ext>
            </a:extLst>
          </p:cNvPr>
          <p:cNvSpPr txBox="1"/>
          <p:nvPr/>
        </p:nvSpPr>
        <p:spPr>
          <a:xfrm>
            <a:off x="3015367" y="5715000"/>
            <a:ext cx="376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Fig.2 GitHub Branch Protection Rule</a:t>
            </a:r>
          </a:p>
        </p:txBody>
      </p:sp>
    </p:spTree>
    <p:extLst>
      <p:ext uri="{BB962C8B-B14F-4D97-AF65-F5344CB8AC3E}">
        <p14:creationId xmlns:p14="http://schemas.microsoft.com/office/powerpoint/2010/main" val="3777770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29B71-1424-FA3E-AB24-1BF83CFF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D210A5-E0E1-E9D5-E6D6-F82DA9F0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48" y="1371600"/>
            <a:ext cx="6591985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AWS Code Pipeline is a continuous delivery service you can use to model, visualize, and automate the steps required to release your software. </a:t>
            </a:r>
          </a:p>
          <a:p>
            <a:pPr algn="just"/>
            <a:r>
              <a:rPr lang="en-US" sz="1800" dirty="0"/>
              <a:t>You can quickly model and configure the different stages of a software release process. </a:t>
            </a:r>
          </a:p>
          <a:p>
            <a:pPr algn="just"/>
            <a:r>
              <a:rPr lang="en-US" sz="1800" dirty="0"/>
              <a:t>Code Pipeline automates the steps required to release your software changes continuously.</a:t>
            </a:r>
          </a:p>
          <a:p>
            <a:pPr algn="just"/>
            <a:r>
              <a:rPr lang="en-US" sz="1800" dirty="0"/>
              <a:t>For security, Code Pipeline uses AWS IAM roles and policies to manage access. </a:t>
            </a:r>
          </a:p>
          <a:p>
            <a:pPr algn="just"/>
            <a:r>
              <a:rPr lang="en-US" sz="1800" dirty="0"/>
              <a:t>Additionally, all data stored in Code Pipeline is encrypted both in transit and at rest.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BF99A6-F6E3-EBE7-F1E1-163A49E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985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42C742A8-7599-DF43-520D-661FFEFAB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57200"/>
            <a:ext cx="5410200" cy="59267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B8FED8-0A8B-D8AE-D4BF-FEE27EF5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9A968DB-2778-0D61-893C-7C0A844DBA32}"/>
              </a:ext>
            </a:extLst>
          </p:cNvPr>
          <p:cNvSpPr txBox="1"/>
          <p:nvPr/>
        </p:nvSpPr>
        <p:spPr>
          <a:xfrm>
            <a:off x="3733800" y="6383956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Fig.3  AWS-Pipeline</a:t>
            </a:r>
          </a:p>
        </p:txBody>
      </p:sp>
    </p:spTree>
    <p:extLst>
      <p:ext uri="{BB962C8B-B14F-4D97-AF65-F5344CB8AC3E}">
        <p14:creationId xmlns:p14="http://schemas.microsoft.com/office/powerpoint/2010/main" val="3066530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3536CE-4312-66EA-4B7E-D70162A7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Build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3C4618-00EC-A391-2D7A-490CD5E3C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342222"/>
            <a:ext cx="6741599" cy="4311022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</a:rPr>
              <a:t>Second stage is Code Build where the building process of code takes place.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AWS Code Build is a fully managed build service in the cloud.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Code Build compiles your source code, runs unit tests, and produces artifacts that are ready to deploy.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Code Build eliminates the need to provision, manage, and scale your own build servers.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91AE36-3962-39AB-3698-6EBACC37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575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E8552588-7F8D-EE87-F4FB-CE605BB1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644" y="602130"/>
            <a:ext cx="4576879" cy="823690"/>
          </a:xfrm>
        </p:spPr>
        <p:txBody>
          <a:bodyPr/>
          <a:lstStyle/>
          <a:p>
            <a:r>
              <a:rPr lang="en-IN" b="1" dirty="0"/>
              <a:t>Continue..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5959C4-61F6-B11A-13F9-0F233C3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321" y="1425820"/>
            <a:ext cx="4576879" cy="4593980"/>
          </a:xfrm>
        </p:spPr>
        <p:txBody>
          <a:bodyPr>
            <a:normAutofit/>
          </a:bodyPr>
          <a:lstStyle/>
          <a:p>
            <a:r>
              <a:rPr lang="en-US" dirty="0"/>
              <a:t>As input, you must provide Code Build with a build project. </a:t>
            </a:r>
          </a:p>
          <a:p>
            <a:r>
              <a:rPr lang="en-US" dirty="0"/>
              <a:t>The build environment can also perform tasks that you specify in the build spec file(for example, sending build notifications to an Amazon SNS topic). </a:t>
            </a:r>
          </a:p>
          <a:p>
            <a:r>
              <a:rPr lang="en-US" dirty="0"/>
              <a:t>It provides customize build environments in Code Build to use your own build tools. </a:t>
            </a:r>
          </a:p>
          <a:p>
            <a:r>
              <a:rPr lang="en-US" dirty="0"/>
              <a:t> Code Build scales automatically to meet peak build requests.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0C5E90-4AC0-ED21-19A9-E0E52B87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pic>
        <p:nvPicPr>
          <p:cNvPr id="9" name="Picture 8" descr="A diagram of a software process&#10;&#10;Description automatically generated">
            <a:extLst>
              <a:ext uri="{FF2B5EF4-FFF2-40B4-BE49-F238E27FC236}">
                <a16:creationId xmlns:a16="http://schemas.microsoft.com/office/drawing/2014/main" xmlns="" id="{8F0C028D-AC80-1BB2-D6A3-C9C5D71B9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846" y="660600"/>
            <a:ext cx="2477436" cy="5271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72AE3D3-CF4F-D55E-1AB8-11B2FAACFF63}"/>
              </a:ext>
            </a:extLst>
          </p:cNvPr>
          <p:cNvSpPr txBox="1"/>
          <p:nvPr/>
        </p:nvSpPr>
        <p:spPr>
          <a:xfrm>
            <a:off x="6569635" y="6144349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Fig.4 </a:t>
            </a:r>
            <a:r>
              <a:rPr lang="en-US" sz="1600" b="1" dirty="0"/>
              <a:t>Code</a:t>
            </a:r>
            <a:r>
              <a:rPr lang="en-US" b="1" dirty="0"/>
              <a:t> Build</a:t>
            </a:r>
          </a:p>
        </p:txBody>
      </p:sp>
    </p:spTree>
    <p:extLst>
      <p:ext uri="{BB962C8B-B14F-4D97-AF65-F5344CB8AC3E}">
        <p14:creationId xmlns:p14="http://schemas.microsoft.com/office/powerpoint/2010/main" val="1707909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xmlns="" id="{ACD89C7C-3DE9-86E2-1505-67A136242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639" y="387213"/>
            <a:ext cx="5361362" cy="56325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2D66FF-EFD4-4ACF-DF57-7B7DF607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EBE48653-9F34-2246-E083-B0B29BDB4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xmlns="" id="{7B86DD4E-DA2A-DA66-3151-C51101C8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912A659-76E5-4B14-945A-12ED1D6AB5A0}"/>
              </a:ext>
            </a:extLst>
          </p:cNvPr>
          <p:cNvSpPr txBox="1"/>
          <p:nvPr/>
        </p:nvSpPr>
        <p:spPr>
          <a:xfrm>
            <a:off x="4343400" y="609040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.5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 code</a:t>
            </a:r>
          </a:p>
        </p:txBody>
      </p:sp>
    </p:spTree>
    <p:extLst>
      <p:ext uri="{BB962C8B-B14F-4D97-AF65-F5344CB8AC3E}">
        <p14:creationId xmlns:p14="http://schemas.microsoft.com/office/powerpoint/2010/main" val="3444450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B70F5A-CBBA-F994-630D-7B4F33A6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09061"/>
            <a:ext cx="6589199" cy="762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Deploy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CA5747-7D36-59A1-6228-103923A4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567" y="1600200"/>
            <a:ext cx="6974233" cy="3810000"/>
          </a:xfrm>
        </p:spPr>
        <p:txBody>
          <a:bodyPr/>
          <a:lstStyle/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</a:rPr>
              <a:t>Code Deploy is a deployment service that automates application deployments to Amazon EC2 instances, on-premises instances, serverless Lambda functions, or Amazon ECS services.</a:t>
            </a:r>
          </a:p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</a:rPr>
              <a:t>Code Deploy can deploy application content that runs on a server and is stored in Amazon S3 buckets, GitHub repositories, or Bitbucket repositories. </a:t>
            </a:r>
          </a:p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</a:rPr>
              <a:t>Code Deploy can also deploy a serverless Lambda function. </a:t>
            </a:r>
          </a:p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</a:rPr>
              <a:t>You do not need to make changes to your existing code before you can use Code Deploy.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F4A829-7B87-3312-65D0-E3D26790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700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90CF2-C25E-44C6-E68C-07942458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138" y="657164"/>
            <a:ext cx="3119357" cy="62636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Continue..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F1AE1A6-71FB-4970-5331-E05E652A7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652" y="1371600"/>
            <a:ext cx="3455578" cy="5361510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solidFill>
                  <a:srgbClr val="000000"/>
                </a:solidFill>
              </a:rPr>
              <a:t>A deployment configuration is set of deployment rules and deployment success and failure conditions used by Code Deploy during a deployment. </a:t>
            </a:r>
          </a:p>
          <a:p>
            <a:pPr algn="just"/>
            <a:r>
              <a:rPr lang="en-US" sz="1600" dirty="0">
                <a:solidFill>
                  <a:srgbClr val="000000"/>
                </a:solidFill>
              </a:rPr>
              <a:t>If your deployment uses the EC2/On-Premises compute platform, you can specify the minimum number of healthy instances for the deployment. </a:t>
            </a:r>
          </a:p>
          <a:p>
            <a:pPr algn="just"/>
            <a:r>
              <a:rPr lang="en-US" sz="1600" dirty="0">
                <a:solidFill>
                  <a:srgbClr val="000000"/>
                </a:solidFill>
              </a:rPr>
              <a:t>A deployment type is a method used to make the latest application revision available on instances in a deployment group.</a:t>
            </a:r>
          </a:p>
          <a:p>
            <a:pPr algn="just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B5D65DF-D1C9-6007-23D5-8383CBAB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40B7C26-2081-9515-8003-6ABDB8551765}"/>
              </a:ext>
            </a:extLst>
          </p:cNvPr>
          <p:cNvSpPr txBox="1"/>
          <p:nvPr/>
        </p:nvSpPr>
        <p:spPr>
          <a:xfrm>
            <a:off x="5307531" y="2750294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.6 Stop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913031F-692B-ECF1-40DF-8E1796EA3291}"/>
              </a:ext>
            </a:extLst>
          </p:cNvPr>
          <p:cNvSpPr txBox="1"/>
          <p:nvPr/>
        </p:nvSpPr>
        <p:spPr>
          <a:xfrm>
            <a:off x="5549385" y="5736335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.7 Start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965" y="990601"/>
            <a:ext cx="4112733" cy="1621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EF61192-8D98-EAED-866B-3CB43D5EF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65" y="3738375"/>
            <a:ext cx="4115011" cy="190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3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149347A8-4EBD-73F5-51ED-7C44A2E6B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24000"/>
            <a:ext cx="7010400" cy="39040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0D20A4-2A6B-250C-3929-C17797A2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825A89B-2B6D-E517-BC8B-18E1A3D6DF14}"/>
              </a:ext>
            </a:extLst>
          </p:cNvPr>
          <p:cNvSpPr txBox="1"/>
          <p:nvPr/>
        </p:nvSpPr>
        <p:spPr>
          <a:xfrm>
            <a:off x="3599399" y="555709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8.Code Deploy Events</a:t>
            </a:r>
          </a:p>
        </p:txBody>
      </p:sp>
    </p:spTree>
    <p:extLst>
      <p:ext uri="{BB962C8B-B14F-4D97-AF65-F5344CB8AC3E}">
        <p14:creationId xmlns:p14="http://schemas.microsoft.com/office/powerpoint/2010/main" val="1269415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59045"/>
            <a:ext cx="6589199" cy="622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6934200" cy="4724400"/>
          </a:xfrm>
        </p:spPr>
        <p:txBody>
          <a:bodyPr>
            <a:normAutofit/>
          </a:bodyPr>
          <a:lstStyle/>
          <a:p>
            <a:r>
              <a:rPr lang="en-US" dirty="0"/>
              <a:t>Ghost Inspector is a codeless automated testing product that allows you to easily create and run automated browser tests for your websites and web applications</a:t>
            </a:r>
          </a:p>
          <a:p>
            <a:r>
              <a:rPr lang="en-US" dirty="0"/>
              <a:t>These tests carry out actions in a web browser the same way a real user would to ensure that everything is working properly.</a:t>
            </a:r>
          </a:p>
          <a:p>
            <a:r>
              <a:rPr lang="en-US" dirty="0"/>
              <a:t>Building an automated test suite used to mean months of training and coding, all so you could end up with some brittle Selenium scripts that stopped working soon after.</a:t>
            </a:r>
          </a:p>
          <a:p>
            <a:r>
              <a:rPr lang="en-US" dirty="0"/>
              <a:t>Ghost inspector provides features like Test Recording Extension, Visual Testing via Screenshot Comparison , Parallel Test Running by Default , Data-driven Testing Using Spreadsheets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463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9BCC32FB-C04D-EE72-3EE3-63AB31E49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90471"/>
            <a:ext cx="6934200" cy="42671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64D1F3-FEAE-68C2-BACC-0DD013DB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06A9D67-1861-C0AD-8085-40B02C8E8E71}"/>
              </a:ext>
            </a:extLst>
          </p:cNvPr>
          <p:cNvSpPr txBox="1"/>
          <p:nvPr/>
        </p:nvSpPr>
        <p:spPr>
          <a:xfrm>
            <a:off x="3771900" y="545767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9.Ghost Inspector</a:t>
            </a:r>
          </a:p>
        </p:txBody>
      </p:sp>
    </p:spTree>
    <p:extLst>
      <p:ext uri="{BB962C8B-B14F-4D97-AF65-F5344CB8AC3E}">
        <p14:creationId xmlns:p14="http://schemas.microsoft.com/office/powerpoint/2010/main" val="2894472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9DA84C-C414-BD6F-0AA6-BDB1C768D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BA596F-565D-D748-7605-FCE2AE26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24000"/>
            <a:ext cx="7315199" cy="4746538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The </a:t>
            </a:r>
            <a:r>
              <a:rPr lang="en-IN" sz="1800" dirty="0"/>
              <a:t>Performance Testing </a:t>
            </a:r>
            <a:r>
              <a:rPr lang="en-US" sz="1800" dirty="0"/>
              <a:t>is carried out in code build service where all scripts are written in buildspec.yml file.</a:t>
            </a:r>
          </a:p>
          <a:p>
            <a:pPr algn="just"/>
            <a:r>
              <a:rPr lang="en-US" sz="1800" dirty="0"/>
              <a:t>The JMeter configuration is written in file named react-</a:t>
            </a:r>
            <a:r>
              <a:rPr lang="en-US" sz="1800" dirty="0" err="1"/>
              <a:t>app.Jmx</a:t>
            </a:r>
            <a:r>
              <a:rPr lang="en-US" sz="1800" dirty="0"/>
              <a:t> which is already uploaded to GitHub.</a:t>
            </a:r>
          </a:p>
          <a:p>
            <a:pPr algn="just"/>
            <a:r>
              <a:rPr lang="en-US" sz="1800" dirty="0"/>
              <a:t>The file is run using JMeter cli command and the result will be stored in .csv file , the dashboard generated for visualization of result will be stored as zip.</a:t>
            </a:r>
          </a:p>
          <a:p>
            <a:pPr algn="just"/>
            <a:r>
              <a:rPr lang="en-US" sz="1800" dirty="0"/>
              <a:t>Both zip and csv file are uploaded to s3 bucket using AWS cli .</a:t>
            </a:r>
          </a:p>
          <a:p>
            <a:pPr algn="just"/>
            <a:r>
              <a:rPr lang="en-US" sz="1800" dirty="0"/>
              <a:t>JMeter is totally free, allows developer use the source code for the development.</a:t>
            </a:r>
          </a:p>
          <a:p>
            <a:pPr algn="just"/>
            <a:r>
              <a:rPr lang="en-US" sz="1800" dirty="0"/>
              <a:t>Test result can be displayed in a different format such as chart, table, tree and log file.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D2A076-F39F-EA08-96E0-55C31A29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36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CC131A06-6D5B-22BC-53BF-7CAD4EC46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1524000"/>
            <a:ext cx="6591300" cy="37076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D68EB52-EF54-AE52-E9D6-476D39A7C37F}"/>
              </a:ext>
            </a:extLst>
          </p:cNvPr>
          <p:cNvSpPr txBox="1"/>
          <p:nvPr/>
        </p:nvSpPr>
        <p:spPr>
          <a:xfrm>
            <a:off x="2933700" y="54102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.10 Jmeter configuration file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0" y="762000"/>
            <a:ext cx="470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65360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344031-0A86-0E20-3B29-3BA08D95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59045"/>
            <a:ext cx="6589199" cy="6226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3FFEEE-37A8-AF62-44ED-724AF5EB1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71600"/>
            <a:ext cx="6858001" cy="5486400"/>
          </a:xfrm>
        </p:spPr>
        <p:txBody>
          <a:bodyPr/>
          <a:lstStyle/>
          <a:p>
            <a:pPr algn="just"/>
            <a:r>
              <a:rPr lang="en-US" sz="1800" dirty="0"/>
              <a:t>This test is carried out by Grafana.</a:t>
            </a:r>
          </a:p>
          <a:p>
            <a:pPr algn="just"/>
            <a:r>
              <a:rPr lang="en-US" sz="1800" dirty="0"/>
              <a:t>The Load testing is carried out for ec2 instance , so Grafana is being installed in instance for monitoring.</a:t>
            </a:r>
          </a:p>
          <a:p>
            <a:pPr algn="just"/>
            <a:r>
              <a:rPr lang="en-US" sz="1800" dirty="0"/>
              <a:t>Grafana is an open-source observability platform for visualizing metrics, logs, and traces collected from your applications.</a:t>
            </a:r>
          </a:p>
          <a:p>
            <a:pPr algn="just"/>
            <a:r>
              <a:rPr lang="en-US" sz="1800" dirty="0"/>
              <a:t>Grafana is most commonly used as an infrastructure monitoring tool that lets you keep tabs on application performance and error rates.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Grafana is connected with Prometheus to convert metrics data into graphical form.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CPU utilization , memory usage , disk read and write throughput are some graph which are showed in dashboard.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DB8F85-84B7-05CE-6187-FB5BDCBC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667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214A2D-A66D-BF15-F418-CA8063D9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98691"/>
            <a:ext cx="6589199" cy="543308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5FA04B-1393-EFAF-E921-6BE1927E1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199" y="1241999"/>
            <a:ext cx="7162800" cy="2733291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rgbClr val="000000"/>
                </a:solidFill>
              </a:rPr>
              <a:t>The alarm is set for high threshold value of CPU utilization and if it hits the maximum threshold value then it fires alarm , notifies developer through discord which is connected to Grafana by webhook.</a:t>
            </a:r>
          </a:p>
          <a:p>
            <a:pPr algn="just"/>
            <a:r>
              <a:rPr lang="en-US" sz="1800" dirty="0">
                <a:solidFill>
                  <a:srgbClr val="000000"/>
                </a:solidFill>
              </a:rPr>
              <a:t>Grafana installed will be run on 3000 port of instance and it will required metrics to generate graph.</a:t>
            </a:r>
          </a:p>
          <a:p>
            <a:pPr algn="just"/>
            <a:r>
              <a:rPr lang="en-US" sz="1800" dirty="0">
                <a:solidFill>
                  <a:srgbClr val="000000"/>
                </a:solidFill>
              </a:rPr>
              <a:t>Prometheus is installed for collecting metrics of instance and it runs on port 9090.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3E3A9E6-24CD-0C1E-82DB-5AF548B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EB493E4D-7637-ABB5-502F-FD71E8B38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975290"/>
            <a:ext cx="6095999" cy="25208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3A889F2-5639-53AB-AE5C-5E86B31AA33C}"/>
              </a:ext>
            </a:extLst>
          </p:cNvPr>
          <p:cNvSpPr txBox="1"/>
          <p:nvPr/>
        </p:nvSpPr>
        <p:spPr>
          <a:xfrm>
            <a:off x="3635594" y="6496121"/>
            <a:ext cx="2823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Fig .11Grafana Dashboard</a:t>
            </a:r>
          </a:p>
        </p:txBody>
      </p:sp>
    </p:spTree>
    <p:extLst>
      <p:ext uri="{BB962C8B-B14F-4D97-AF65-F5344CB8AC3E}">
        <p14:creationId xmlns:p14="http://schemas.microsoft.com/office/powerpoint/2010/main" val="13700634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xmlns="" id="{C9FCDAEC-AAC7-097D-3474-53656813C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71600"/>
            <a:ext cx="7010400" cy="46505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F6BBE1-5263-84EA-B98C-EC4A9136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B451EA0-E850-CA14-6480-93BF0604C080}"/>
              </a:ext>
            </a:extLst>
          </p:cNvPr>
          <p:cNvSpPr txBox="1"/>
          <p:nvPr/>
        </p:nvSpPr>
        <p:spPr>
          <a:xfrm>
            <a:off x="3600450" y="6079137"/>
            <a:ext cx="3086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+mj-lt"/>
                <a:cs typeface="Times New Roman" panose="02020603050405020304" pitchFamily="18" charset="0"/>
              </a:rPr>
              <a:t>Fig .12 Grafana Dashboard</a:t>
            </a:r>
          </a:p>
        </p:txBody>
      </p:sp>
    </p:spTree>
    <p:extLst>
      <p:ext uri="{BB962C8B-B14F-4D97-AF65-F5344CB8AC3E}">
        <p14:creationId xmlns:p14="http://schemas.microsoft.com/office/powerpoint/2010/main" val="13330913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D63DAE-0D40-1025-ACCF-8F7AC36A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13772"/>
            <a:ext cx="6589199" cy="747490"/>
          </a:xfrm>
        </p:spPr>
        <p:txBody>
          <a:bodyPr>
            <a:normAutofit/>
          </a:bodyPr>
          <a:lstStyle/>
          <a:p>
            <a:r>
              <a:rPr lang="en-IN" sz="3200" b="1" dirty="0"/>
              <a:t>Simple Notification Service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6300E1-2F6E-A3CC-54D2-B8B40C8C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344090"/>
            <a:ext cx="6781800" cy="5361510"/>
          </a:xfrm>
        </p:spPr>
        <p:txBody>
          <a:bodyPr/>
          <a:lstStyle/>
          <a:p>
            <a:pPr algn="just"/>
            <a:r>
              <a:rPr lang="en-US" sz="1800" dirty="0"/>
              <a:t>Amazon Simple Notification Service (Amazon SNS) is a managed service that provides message delivery from publishers to subscribers (also known as producers and consumers). </a:t>
            </a:r>
          </a:p>
          <a:p>
            <a:pPr algn="just"/>
            <a:r>
              <a:rPr lang="en-US" sz="1800" dirty="0"/>
              <a:t>Clients can subscribe to the SNS topic and receive published messages using a supported endpoint type, such as Amazon Data Firehose, Amazon SQS, AWS Lambda, HTTP, email, mobile push notifications, and mobile text messages (SMS).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Features:- </a:t>
            </a:r>
            <a:r>
              <a:rPr lang="en-US" sz="1800" dirty="0"/>
              <a:t>Application-to-application messaging</a:t>
            </a:r>
          </a:p>
          <a:p>
            <a:pPr algn="just"/>
            <a:r>
              <a:rPr lang="en-US" sz="1800" dirty="0"/>
              <a:t>Application-to-person notifications</a:t>
            </a:r>
          </a:p>
          <a:p>
            <a:pPr algn="just"/>
            <a:r>
              <a:rPr lang="en-US" sz="1800" dirty="0"/>
              <a:t>Standard and FIFO topics</a:t>
            </a:r>
          </a:p>
          <a:p>
            <a:pPr algn="just"/>
            <a:r>
              <a:rPr lang="en-US" sz="1800" dirty="0"/>
              <a:t>Message durability</a:t>
            </a:r>
          </a:p>
          <a:p>
            <a:pPr algn="just"/>
            <a:r>
              <a:rPr lang="en-US" sz="1800" dirty="0"/>
              <a:t>Message security</a:t>
            </a:r>
            <a:endParaRPr lang="en-IN" sz="1800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329F3F8-7936-4132-2E3D-ADEA4CBA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9959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FA2E7F06-57EA-A796-27A6-D7EC8AC6B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506" y="1388291"/>
            <a:ext cx="6781800" cy="40814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F999CB3-B312-5FAA-18BE-6FC09CEC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F98D928-6B80-FC05-93C0-947AB51BA552}"/>
              </a:ext>
            </a:extLst>
          </p:cNvPr>
          <p:cNvSpPr txBox="1"/>
          <p:nvPr/>
        </p:nvSpPr>
        <p:spPr>
          <a:xfrm>
            <a:off x="3865206" y="563880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+mj-lt"/>
                <a:cs typeface="Times New Roman" panose="02020603050405020304" pitchFamily="18" charset="0"/>
              </a:rPr>
              <a:t>Fig .13 Notification</a:t>
            </a:r>
          </a:p>
        </p:txBody>
      </p:sp>
    </p:spTree>
    <p:extLst>
      <p:ext uri="{BB962C8B-B14F-4D97-AF65-F5344CB8AC3E}">
        <p14:creationId xmlns:p14="http://schemas.microsoft.com/office/powerpoint/2010/main" val="664107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B660FE-F431-6DF7-8178-0305C6EF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376" y="673161"/>
            <a:ext cx="4572000" cy="762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55AD7D3A-289D-9F43-7E4C-1A77B5CF6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435161"/>
            <a:ext cx="4114799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stage requires manual approval of developer team head.</a:t>
            </a:r>
          </a:p>
          <a:p>
            <a:pPr algn="just"/>
            <a:r>
              <a:rPr lang="en-US" dirty="0"/>
              <a:t>A staging environment is a copy of live website and is the last step in the deployment process before changes are deployed to the live website.</a:t>
            </a:r>
          </a:p>
          <a:p>
            <a:pPr algn="just"/>
            <a:r>
              <a:rPr lang="en-US" dirty="0"/>
              <a:t>The performance of staging instance is monitor using Grafana.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13E59D-E9BA-55D9-C5D2-A60143D4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  <p:pic>
        <p:nvPicPr>
          <p:cNvPr id="3" name="Picture 2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xmlns="" id="{6F33DDB3-1842-B0F8-BF06-19657B4A2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593725"/>
            <a:ext cx="2040960" cy="5271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C29D3D9-A939-F428-EA1B-9F588E237890}"/>
              </a:ext>
            </a:extLst>
          </p:cNvPr>
          <p:cNvSpPr txBox="1"/>
          <p:nvPr/>
        </p:nvSpPr>
        <p:spPr>
          <a:xfrm>
            <a:off x="7086600" y="6066484"/>
            <a:ext cx="16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Fig .14 Staging</a:t>
            </a:r>
          </a:p>
        </p:txBody>
      </p:sp>
    </p:spTree>
    <p:extLst>
      <p:ext uri="{BB962C8B-B14F-4D97-AF65-F5344CB8AC3E}">
        <p14:creationId xmlns:p14="http://schemas.microsoft.com/office/powerpoint/2010/main" val="25129887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99506-7964-9595-6792-A8B1ADA7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702419"/>
            <a:ext cx="5026502" cy="67129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929EE0-FB0B-8A55-0E86-D39F4209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447800"/>
            <a:ext cx="4419600" cy="4288764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/>
              <a:t>The production stage deploys the code to the live environment.</a:t>
            </a:r>
          </a:p>
          <a:p>
            <a:pPr algn="just">
              <a:lnSpc>
                <a:spcPct val="90000"/>
              </a:lnSpc>
            </a:pPr>
            <a:r>
              <a:rPr lang="en-US" sz="1800" dirty="0"/>
              <a:t>It might involve deploying to compute services like Amazon EC2 or AWS Lambda.</a:t>
            </a:r>
          </a:p>
          <a:p>
            <a:pPr algn="just">
              <a:lnSpc>
                <a:spcPct val="90000"/>
              </a:lnSpc>
            </a:pPr>
            <a:r>
              <a:rPr lang="en-US" sz="1800" dirty="0"/>
              <a:t>Valid Code Pipeline action types include source, build, test, deploy, approval, and invoke.</a:t>
            </a:r>
          </a:p>
          <a:p>
            <a:pPr algn="just">
              <a:lnSpc>
                <a:spcPct val="90000"/>
              </a:lnSpc>
            </a:pPr>
            <a:r>
              <a:rPr lang="en-US" sz="1800" dirty="0"/>
              <a:t>After successful staging , the website is deployed in production environment.</a:t>
            </a:r>
          </a:p>
          <a:p>
            <a:pPr algn="just">
              <a:lnSpc>
                <a:spcPct val="90000"/>
              </a:lnSpc>
            </a:pPr>
            <a:r>
              <a:rPr lang="en-US" sz="1800" dirty="0"/>
              <a:t>The performance of production instance is also monitor through Grafana.</a:t>
            </a:r>
          </a:p>
          <a:p>
            <a:pPr algn="just">
              <a:lnSpc>
                <a:spcPct val="90000"/>
              </a:lnSpc>
            </a:pPr>
            <a:endParaRPr lang="en-IN" sz="1800" dirty="0"/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F4A3D2-86AE-BB89-C887-AC8CE891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0BC2D64-E672-EAA9-B748-87CAD44C0570}"/>
              </a:ext>
            </a:extLst>
          </p:cNvPr>
          <p:cNvSpPr txBox="1"/>
          <p:nvPr/>
        </p:nvSpPr>
        <p:spPr>
          <a:xfrm>
            <a:off x="6398102" y="5884746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+mj-lt"/>
                <a:cs typeface="Times New Roman" panose="02020603050405020304" pitchFamily="18" charset="0"/>
              </a:rPr>
              <a:t>Fig .15 Production</a:t>
            </a:r>
          </a:p>
        </p:txBody>
      </p:sp>
      <p:pic>
        <p:nvPicPr>
          <p:cNvPr id="11" name="Picture 10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xmlns="" id="{CB1C1C8D-D468-93E5-7226-193C107CF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33" y="465423"/>
            <a:ext cx="2030939" cy="527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401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080D2A-F59C-E0AB-9925-EAF3A5EF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7445"/>
            <a:ext cx="6589199" cy="6858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8DD4BD-A421-B60C-822C-9B1069660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7010400" cy="3904723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Documentation: AWS Documentation, "AWS Documentation," [</a:t>
            </a:r>
            <a:r>
              <a:rPr lang="en-IN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]. Available: </a:t>
            </a:r>
            <a:r>
              <a:rPr lang="en-IN" sz="2000" b="0" i="0" u="none" strike="noStrike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https://docs.aws.amazon.com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Dec. 26, 2023].</a:t>
            </a:r>
          </a:p>
          <a:p>
            <a:pPr algn="l"/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AbhishekVeeramalla: AbhishekVeeramalla, "[</a:t>
            </a:r>
            <a:r>
              <a:rPr lang="en-IN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]. Available: </a:t>
            </a:r>
            <a:r>
              <a:rPr lang="en-IN" sz="2000" b="0" i="0" u="none" strike="noStrike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https://www.youtube.com/@AbhishekVeeramalla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Feb. 12, 2024].</a:t>
            </a:r>
          </a:p>
          <a:p>
            <a:pPr algn="l"/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TechnicalGuftgu: TechnicalGuftgu, "[</a:t>
            </a:r>
            <a:r>
              <a:rPr lang="en-IN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]. Available: </a:t>
            </a:r>
            <a:r>
              <a:rPr lang="en-IN" sz="2000" b="0" i="0" u="none" strike="noStrike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https://www.youtube.com/@TechnicalGuftgu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Dec. 30, 2023].</a:t>
            </a:r>
          </a:p>
          <a:p>
            <a:pPr algn="l"/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GouravSharma: GouravSharma, "[</a:t>
            </a:r>
            <a:r>
              <a:rPr lang="en-IN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]. Available: </a:t>
            </a:r>
            <a:r>
              <a:rPr lang="en-IN" sz="2000" b="0" i="0" u="none" strike="noStrike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</a:t>
            </a:r>
            <a:r>
              <a:rPr lang="en-IN" b="0" i="0" u="none" strike="noStrike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.com/@GouravSharma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Jan. 1, 2024].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FDC3C3F-3DDA-0664-FD96-D66AB833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A9B0A-E338-4FD7-8085-B8CCA5B0F859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2395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xmlns="" id="{1A07FE31-4797-9C44-369B-CCB1C617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725" y="1371600"/>
            <a:ext cx="6686550" cy="3778250"/>
          </a:xfrm>
        </p:spPr>
        <p:txBody>
          <a:bodyPr/>
          <a:lstStyle/>
          <a:p>
            <a:pPr marL="82550" indent="0" algn="ctr" eaLnBrk="1" hangingPunct="1">
              <a:buFont typeface="Wingdings 2" panose="05020102010507070707" pitchFamily="18" charset="2"/>
              <a:buNone/>
            </a:pPr>
            <a:endParaRPr lang="en-US" altLang="en-US" sz="8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2550" indent="0" algn="ctr" eaLnBrk="1" hangingPunct="1">
              <a:buFont typeface="Wingdings 2" panose="05020102010507070707" pitchFamily="18" charset="2"/>
              <a:buNone/>
            </a:pPr>
            <a:r>
              <a:rPr lang="en-US" altLang="en-US" sz="8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altLang="en-US" sz="8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xmlns="" id="{7D0C3293-A5B1-BDB2-36C6-E68E9BBB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E4A7A21-D96A-4948-856C-959C3B27D981}" type="slidenum">
              <a:rPr lang="en-US" altLang="en-US" sz="2400">
                <a:solidFill>
                  <a:schemeClr val="bg1"/>
                </a:solidFill>
                <a:latin typeface="Calibri" panose="020F0502020204030204" pitchFamily="34" charset="0"/>
              </a:rPr>
              <a:pPr/>
              <a:t>60</a:t>
            </a:fld>
            <a:endParaRPr lang="en-US" alt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8524</TotalTime>
  <Words>2852</Words>
  <Application>Microsoft Office PowerPoint</Application>
  <PresentationFormat>On-screen Show (4:3)</PresentationFormat>
  <Paragraphs>617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Aptos</vt:lpstr>
      <vt:lpstr>Arial</vt:lpstr>
      <vt:lpstr>Calibri</vt:lpstr>
      <vt:lpstr>Cambria</vt:lpstr>
      <vt:lpstr>Century Gothic</vt:lpstr>
      <vt:lpstr>Gill Sans MT</vt:lpstr>
      <vt:lpstr>Times New Roman</vt:lpstr>
      <vt:lpstr>Wingdings</vt:lpstr>
      <vt:lpstr>Wingdings 2</vt:lpstr>
      <vt:lpstr>Wingdings 3</vt:lpstr>
      <vt:lpstr>Wisp</vt:lpstr>
      <vt:lpstr>An Industrial Training Presentation</vt:lpstr>
      <vt:lpstr>Outline </vt:lpstr>
      <vt:lpstr>Company Profile</vt:lpstr>
      <vt:lpstr>Timeline Chart</vt:lpstr>
      <vt:lpstr>Timeline chart</vt:lpstr>
      <vt:lpstr>Week 1</vt:lpstr>
      <vt:lpstr>Week (2-3)</vt:lpstr>
      <vt:lpstr>AWS Services</vt:lpstr>
      <vt:lpstr>Week (4-5)</vt:lpstr>
      <vt:lpstr>Task of EC-2</vt:lpstr>
      <vt:lpstr>Task of Volume </vt:lpstr>
      <vt:lpstr>Tasks</vt:lpstr>
      <vt:lpstr>Week (6-7)</vt:lpstr>
      <vt:lpstr>Database credentials</vt:lpstr>
      <vt:lpstr>Hosted Site</vt:lpstr>
      <vt:lpstr>Site hosting on S3</vt:lpstr>
      <vt:lpstr>Static site hosting</vt:lpstr>
      <vt:lpstr>Hosted Website</vt:lpstr>
      <vt:lpstr>Task of S3</vt:lpstr>
      <vt:lpstr>Network Task</vt:lpstr>
      <vt:lpstr>Route Table</vt:lpstr>
      <vt:lpstr>Week (8-9)</vt:lpstr>
      <vt:lpstr>Amazon Machine Image</vt:lpstr>
      <vt:lpstr>Lambda Function</vt:lpstr>
      <vt:lpstr>Dynamo db</vt:lpstr>
      <vt:lpstr>Trigger event</vt:lpstr>
      <vt:lpstr>Source code</vt:lpstr>
      <vt:lpstr>CloudWatch Event</vt:lpstr>
      <vt:lpstr>Task of RDS</vt:lpstr>
      <vt:lpstr>Screenshots of SSMS</vt:lpstr>
      <vt:lpstr>Backup in S3 </vt:lpstr>
      <vt:lpstr>Site hosting on EC-2</vt:lpstr>
      <vt:lpstr>Implementation</vt:lpstr>
      <vt:lpstr>Implementation</vt:lpstr>
      <vt:lpstr>Flowchart </vt:lpstr>
      <vt:lpstr>Components of CI/CD Pipeline</vt:lpstr>
      <vt:lpstr>Pull Request</vt:lpstr>
      <vt:lpstr>GitHub</vt:lpstr>
      <vt:lpstr>GitHub Screenshot</vt:lpstr>
      <vt:lpstr>Code Pipeline</vt:lpstr>
      <vt:lpstr>PowerPoint Presentation</vt:lpstr>
      <vt:lpstr>Code Build </vt:lpstr>
      <vt:lpstr>Continue..</vt:lpstr>
      <vt:lpstr>PowerPoint Presentation</vt:lpstr>
      <vt:lpstr>Code Deploy</vt:lpstr>
      <vt:lpstr>Continue..</vt:lpstr>
      <vt:lpstr>PowerPoint Presentation</vt:lpstr>
      <vt:lpstr>UI Testing</vt:lpstr>
      <vt:lpstr>PowerPoint Presentation</vt:lpstr>
      <vt:lpstr>Performance Testing</vt:lpstr>
      <vt:lpstr>PowerPoint Presentation</vt:lpstr>
      <vt:lpstr>Load Testing</vt:lpstr>
      <vt:lpstr>Continue..</vt:lpstr>
      <vt:lpstr>PowerPoint Presentation</vt:lpstr>
      <vt:lpstr>Simple Notification Service</vt:lpstr>
      <vt:lpstr>PowerPoint Presentation</vt:lpstr>
      <vt:lpstr>Staging</vt:lpstr>
      <vt:lpstr>Production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Microsoft account</cp:lastModifiedBy>
  <cp:revision>472</cp:revision>
  <dcterms:created xsi:type="dcterms:W3CDTF">2015-08-24T04:16:31Z</dcterms:created>
  <dcterms:modified xsi:type="dcterms:W3CDTF">2024-06-14T06:11:51Z</dcterms:modified>
</cp:coreProperties>
</file>